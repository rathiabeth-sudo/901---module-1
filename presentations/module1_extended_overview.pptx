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44"/>
                </a:solidFill>
              </a:rPr>
              <a:t>Test macro-F1, matching class (n = 262)</a:t>
            </a:r>
          </a:p>
        </c:rich>
      </c:tx>
      <c:layout/>
      <c:overlay val="0"/>
    </c:title>
    <c:autoTitleDeleted val="0"/>
    <c:plotArea>
      <c:barChart>
        <c:barDir val="bar"/>
        <c:grouping val="clustered"/>
        <c:ser>
          <c:idx val="0"/>
          <c:order val="0"/>
          <c:tx>
            <c:strRef>
              <c:f>Sheet1!$B$1</c:f>
              <c:strCache>
                <c:ptCount val="1"/>
                <c:pt idx="0">
                  <c:v>Test macro-F1</c:v>
                </c:pt>
              </c:strCache>
            </c:strRef>
          </c:tx>
          <c:dPt>
            <c:idx val="0"/>
            <c:spPr>
              <a:solidFill>
                <a:srgbClr val="A7AFBC"/>
              </a:solidFill>
            </c:spPr>
          </c:dPt>
          <c:dPt>
            <c:idx val="1"/>
            <c:spPr>
              <a:solidFill>
                <a:srgbClr val="C27A36"/>
              </a:solidFill>
            </c:spPr>
          </c:dPt>
          <c:dPt>
            <c:idx val="2"/>
            <c:spPr>
              <a:solidFill>
                <a:srgbClr val="14213D"/>
              </a:solidFill>
            </c:spPr>
          </c:dPt>
          <c:dPt>
            <c:idx val="3"/>
            <c:spPr>
              <a:solidFill>
                <a:srgbClr val="14213D"/>
              </a:solidFill>
            </c:spPr>
          </c:dPt>
          <c:dPt>
            <c:idx val="4"/>
            <c:spPr>
              <a:solidFill>
                <a:srgbClr val="C9D3E3"/>
              </a:solidFill>
            </c:spPr>
          </c:dPt>
          <c:dPt>
            <c:idx val="5"/>
            <c:spPr>
              <a:solidFill>
                <a:srgbClr val="C9D3E3"/>
              </a:solidFill>
            </c:spPr>
          </c:dPt>
          <c:cat>
            <c:strRef>
              <c:f>Sheet1!$A$2:$A$7</c:f>
              <c:strCache>
                <c:ptCount val="6"/>
                <c:pt idx="0">
                  <c:v>Majority baseline</c:v>
                </c:pt>
                <c:pt idx="1">
                  <c:v>ViT fine-tuned (pre-reg., 3 seeds)</c:v>
                </c:pt>
                <c:pt idx="2">
                  <c:v>Compact CNN (3 seeds)</c:v>
                </c:pt>
                <c:pt idx="3">
                  <c:v>ViT linear probe</c:v>
                </c:pt>
                <c:pt idx="4">
                  <c:v>ViT fine-tuned, no aug.*</c:v>
                </c:pt>
                <c:pt idx="5">
                  <c:v>MLP on ViT features*</c:v>
                </c:pt>
              </c:strCache>
            </c:strRef>
          </c:cat>
          <c:val>
            <c:numRef>
              <c:f>Sheet1!$B$2:$B$7</c:f>
              <c:numCache>
                <c:formatCode>General</c:formatCode>
                <c:ptCount val="6"/>
                <c:pt idx="0">
                  <c:v>0.269</c:v>
                </c:pt>
                <c:pt idx="1">
                  <c:v>0.582</c:v>
                </c:pt>
                <c:pt idx="2">
                  <c:v>0.643</c:v>
                </c:pt>
                <c:pt idx="3">
                  <c:v>0.709</c:v>
                </c:pt>
                <c:pt idx="4">
                  <c:v>0.725</c:v>
                </c:pt>
                <c:pt idx="5">
                  <c:v>0.775</c:v>
                </c:pt>
              </c:numCache>
            </c:numRef>
          </c:val>
        </c:ser>
        <c:dLbls>
          <c:numFmt formatCode="0.000" sourceLinked="0"/>
          <c:txPr>
            <a:bodyPr/>
            <a:lstStyle/>
            <a:p>
              <a:pPr>
                <a:defRPr sz="1200" b="1">
                  <a:solidFill>
                    <a:srgbClr val="1F2A44"/>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9DEE6"/>
            </a:solidFill>
          </a:ln>
        </c:spPr>
        <c:txPr>
          <a:bodyPr/>
          <a:lstStyle/>
          <a:p>
            <a:pPr>
              <a:defRPr sz="1200">
                <a:solidFill>
                  <a:srgbClr val="1F2A44"/>
                </a:solidFill>
              </a:defRPr>
            </a:pPr>
          </a:p>
        </c:txPr>
        <c:crossAx val="-2113994440"/>
        <c:crosses val="autoZero"/>
        <c:auto val="1"/>
        <c:lblAlgn val="ctr"/>
        <c:lblOffset val="100"/>
        <c:noMultiLvlLbl val="0"/>
      </c:catAx>
      <c:valAx>
        <c:axId val="-2113994440"/>
        <c:scaling>
          <c:max val="0.9"/>
          <c:min val="0.0"/>
        </c:scaling>
        <c:delete/>
        <c:axPos val="b"/>
        <c:majorTickMark val="out"/>
        <c:minorTickMark val="none"/>
        <c:tickLblPos val="nextTo"/>
        <c:spPr>
          <a:ln>
            <a:noFill/>
          </a:ln>
        </c:spPr>
        <c:txPr>
          <a:bodyPr/>
          <a:lstStyle/>
          <a:p>
            <a:pPr>
              <a:defRPr sz="1100">
                <a:solidFill>
                  <a:srgbClr val="6B7586"/>
                </a:solidFill>
              </a:defRPr>
            </a:pPr>
          </a:p>
        </c:txPr>
        <c:crossAx val="-2068027336"/>
        <c:crosses val="autoZero"/>
      </c:valAx>
    </c:plotArea>
    <c:dispBlanksAs val="gap"/>
  </c:chart>
  <c:txPr>
    <a:bodyPr/>
    <a:lstStyle/>
    <a:p>
      <a:pPr>
        <a:defRPr sz="1200">
          <a:solidFill>
            <a:srgbClr val="46516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44"/>
                </a:solidFill>
              </a:rPr>
              <a:t>Test macro-F1 per perturbation (pre-registered ViT, seed 42)</a:t>
            </a:r>
          </a:p>
        </c:rich>
      </c:tx>
      <c:layout/>
      <c:overlay val="0"/>
    </c:title>
    <c:autoTitleDeleted val="0"/>
    <c:plotArea>
      <c:barChart>
        <c:barDir val="bar"/>
        <c:grouping val="clustered"/>
        <c:ser>
          <c:idx val="0"/>
          <c:order val="0"/>
          <c:tx>
            <c:strRef>
              <c:f>Sheet1!$B$1</c:f>
              <c:strCache>
                <c:ptCount val="1"/>
                <c:pt idx="0">
                  <c:v>Macro-F1</c:v>
                </c:pt>
              </c:strCache>
            </c:strRef>
          </c:tx>
          <c:dPt>
            <c:idx val="0"/>
            <c:spPr>
              <a:solidFill>
                <a:srgbClr val="14213D"/>
              </a:solidFill>
            </c:spPr>
          </c:dPt>
          <c:dPt>
            <c:idx val="1"/>
            <c:spPr>
              <a:solidFill>
                <a:srgbClr val="A7AFBC"/>
              </a:solidFill>
            </c:spPr>
          </c:dPt>
          <c:dPt>
            <c:idx val="2"/>
            <c:spPr>
              <a:solidFill>
                <a:srgbClr val="A7AFBC"/>
              </a:solidFill>
            </c:spPr>
          </c:dPt>
          <c:dPt>
            <c:idx val="3"/>
            <c:spPr>
              <a:solidFill>
                <a:srgbClr val="A7AFBC"/>
              </a:solidFill>
            </c:spPr>
          </c:dPt>
          <c:dPt>
            <c:idx val="4"/>
            <c:spPr>
              <a:solidFill>
                <a:srgbClr val="A7AFBC"/>
              </a:solidFill>
            </c:spPr>
          </c:dPt>
          <c:dPt>
            <c:idx val="5"/>
            <c:spPr>
              <a:solidFill>
                <a:srgbClr val="C27A36"/>
              </a:solidFill>
            </c:spPr>
          </c:dPt>
          <c:dPt>
            <c:idx val="6"/>
            <c:spPr>
              <a:solidFill>
                <a:srgbClr val="C27A36"/>
              </a:solidFill>
            </c:spPr>
          </c:dPt>
          <c:cat>
            <c:strRef>
              <c:f>Sheet1!$A$2:$A$8</c:f>
              <c:strCache>
                <c:ptCount val="7"/>
                <c:pt idx="0">
                  <c:v>Clean</c:v>
                </c:pt>
                <c:pt idx="1">
                  <c:v>Rotate 3°</c:v>
                </c:pt>
                <c:pt idx="2">
                  <c:v>Shift 4 px</c:v>
                </c:pt>
                <c:pt idx="3">
                  <c:v>Contrast 0.8</c:v>
                </c:pt>
                <c:pt idx="4">
                  <c:v>JPEG q30</c:v>
                </c:pt>
                <c:pt idx="5">
                  <c:v>Gaussian blur</c:v>
                </c:pt>
                <c:pt idx="6">
                  <c:v>Copper → grey</c:v>
                </c:pt>
              </c:strCache>
            </c:strRef>
          </c:cat>
          <c:val>
            <c:numRef>
              <c:f>Sheet1!$B$2:$B$8</c:f>
              <c:numCache>
                <c:formatCode>General</c:formatCode>
                <c:ptCount val="7"/>
                <c:pt idx="0">
                  <c:v>0.581</c:v>
                </c:pt>
                <c:pt idx="1">
                  <c:v>0.615</c:v>
                </c:pt>
                <c:pt idx="2">
                  <c:v>0.583</c:v>
                </c:pt>
                <c:pt idx="3">
                  <c:v>0.581</c:v>
                </c:pt>
                <c:pt idx="4">
                  <c:v>0.575</c:v>
                </c:pt>
                <c:pt idx="5">
                  <c:v>0.526</c:v>
                </c:pt>
                <c:pt idx="6">
                  <c:v>0.521</c:v>
                </c:pt>
              </c:numCache>
            </c:numRef>
          </c:val>
        </c:ser>
        <c:dLbls>
          <c:numFmt formatCode="0.000" sourceLinked="0"/>
          <c:txPr>
            <a:bodyPr/>
            <a:lstStyle/>
            <a:p>
              <a:pPr>
                <a:defRPr sz="1200" b="1">
                  <a:solidFill>
                    <a:srgbClr val="1F2A44"/>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9DEE6"/>
            </a:solidFill>
          </a:ln>
        </c:spPr>
        <c:txPr>
          <a:bodyPr/>
          <a:lstStyle/>
          <a:p>
            <a:pPr>
              <a:defRPr sz="1200">
                <a:solidFill>
                  <a:srgbClr val="1F2A44"/>
                </a:solidFill>
              </a:defRPr>
            </a:pPr>
          </a:p>
        </c:txPr>
        <c:crossAx val="-2113994440"/>
        <c:crosses val="autoZero"/>
        <c:auto val="1"/>
        <c:lblAlgn val="ctr"/>
        <c:lblOffset val="100"/>
        <c:noMultiLvlLbl val="0"/>
      </c:catAx>
      <c:valAx>
        <c:axId val="-2113994440"/>
        <c:scaling>
          <c:max val="0.7"/>
          <c:min val="0.0"/>
        </c:scaling>
        <c:delete/>
        <c:axPos val="b"/>
        <c:majorTickMark val="out"/>
        <c:minorTickMark val="none"/>
        <c:tickLblPos val="nextTo"/>
        <c:spPr>
          <a:ln>
            <a:noFill/>
          </a:ln>
        </c:spPr>
        <c:txPr>
          <a:bodyPr/>
          <a:lstStyle/>
          <a:p>
            <a:pPr>
              <a:defRPr sz="1100">
                <a:solidFill>
                  <a:srgbClr val="6B7586"/>
                </a:solidFill>
              </a:defRPr>
            </a:pPr>
          </a:p>
        </c:txPr>
        <c:crossAx val="-2068027336"/>
        <c:crosses val="autoZero"/>
      </c:valAx>
    </c:plotArea>
    <c:dispBlanksAs val="gap"/>
  </c:chart>
  <c:txPr>
    <a:bodyPr/>
    <a:lstStyle/>
    <a:p>
      <a:pPr>
        <a:defRPr sz="1200">
          <a:solidFill>
            <a:srgbClr val="46516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Module 1, the image module. The question: can a Vision Transformer look at a picture of an antenna and tell how well it will perform? Everything was run end to end on a CPU, using public simulated datasets, because Ansys HFSS was not available. The image on the right is an actual model input.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turns the broad goal into five research questions. RQ1 is the core: does the image carry enough information? RQ2 and RQ3 compare architectures and image types. RQ4 asks whether the model looks at the right places. RQ5 asks how fragile it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Ansys HFSS was not available, and no public HFSS image dataset of hybrid-slotted DGS antennas exists. So Module 1 uses two public datasets. The main one is 2,051 rectangular patch antennas simulated with openEMS. The second is 3,000 radiation-pattern plots from RadPat-50K. All quality checks passed: no broken curves, duplicates or identical images.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design is drawn the same way, with no text or axes. The top half is at a fixed scale, so the patch's physical size, which sets the resonant frequency, is visible. The bottom half zooms the patch to fill the panel, so the feed point, which sets matching, can be resolved. Images are drawn at four times the size and shrunk, so sub-pixel feed shifts survive.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were frozen in Git before any model was trained. The matching class uses the lowest S11 between 1 and 10 GHz. Minus 10 dB is the standard matched criterion; the minus 20 dB line is a project assumption that needs engineering sign-off. The band class uses the first matched resonance and maps onto 5G FR1 and the FR3 6G candidate band. The widest patches were kept out completely as an out-of-distribution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models were trained on identical splits, all on a 4-core CPU. The majority baseline sets the floor. The compact CNN is the classic alternative. The linear probe keeps the pretrained ViT frozen and trains only a tiny final layer. The fine-tuned ViT trains its head and its last four transformer 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labels, thresholds, split and seed were committed to Git before the main results existed. Models were selected on validation scores, and each final model saw the test set once. When the pre-registered ViT underfitted, a revised setting was added under a rule fixed in advance. It did not pass the rule, so the original model stayed the official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262 locked test designs, all models beat the majority baseline. The pre-registered fine-tuned ViT scored 0.582, below the CNN at 0.643 and the frozen linear probe at 0.709. The two lighter bars are exploratory: the ViT retrained without augmentation reached 0.725, and an MLP on the fine-tuned ViT's features reached 0.775.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holds. H2 fails: McNemar shows the CNN was right on 23 designs the ViT missed, versus 5 the other way. H3 fails: frozen features beat fine-tuning. H4 holds weakly: attention favours the feed, barely the patch. H5 fails, but the OOD set has a more even class mix, which confounds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lesson of Module 1. Matching depends on where the feed sits, an offset of only one or two pixels. Rotating by 3 degrees or shifting by 2 percent smears exactly that detail. Removing augmentation lifted the same ViT from 0.582 to 0.725, level with the probe. An MLP on its features reached 0.775. The representation is good; the end-to-end classifier did not converge on a CPU budget.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rollout shows which parts of the image the ViT relies on. The ratio compares the share of attention in a region with the share of the image that region covers. Above 1 means the model looks there more than chance. Feed: 1.41 times, and above 1 for every test design. Patch: only 1.03 times. Note the bright spots in the top-right background, an artefact the model attends to that has no physical meaning. Attention shows what the model used, not electromagnetic cause.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image was redrawn with one change. Shift, rotation, contrast and JPEG compression barely moved the score. Blur and swapping copper for grey hurt most, because they erase the fine feed detail and the colour cue that separates patch from background.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proves the pipeline works end to end, from rendering through training, testing and explaining. It does not yet say anything about hybrid-slotted DGS antennas. The next step is real HFSS data: at least a thousand designs with standard geometry, surface-current and E-field images, labels signed off by an engineer, and whole slot topologies held out for testing. Retraining without augmentation is the first modelling change to 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234440"/>
            <a:ext cx="6949440" cy="320040"/>
          </a:xfrm>
          <a:prstGeom prst="rect">
            <a:avLst/>
          </a:prstGeom>
          <a:noFill/>
        </p:spPr>
        <p:txBody>
          <a:bodyPr wrap="square" lIns="0" rIns="0" tIns="0" bIns="0" anchor="t">
            <a:spAutoFit/>
          </a:bodyPr>
          <a:lstStyle/>
          <a:p>
            <a:pPr algn="l"/>
            <a:r>
              <a:rPr sz="1400" b="1" i="0">
                <a:solidFill>
                  <a:srgbClr val="E2A96B"/>
                </a:solidFill>
                <a:latin typeface="Calibri"/>
              </a:rPr>
              <a:t>MODULE 1 · IMAGE MODULE</a:t>
            </a:r>
          </a:p>
        </p:txBody>
      </p:sp>
      <p:sp>
        <p:nvSpPr>
          <p:cNvPr id="3" name="Title"/>
          <p:cNvSpPr txBox="1"/>
          <p:nvPr/>
        </p:nvSpPr>
        <p:spPr>
          <a:xfrm>
            <a:off x="731520" y="1691640"/>
            <a:ext cx="6949440" cy="2194560"/>
          </a:xfrm>
          <a:prstGeom prst="rect">
            <a:avLst/>
          </a:prstGeom>
          <a:noFill/>
        </p:spPr>
        <p:txBody>
          <a:bodyPr wrap="square" lIns="0" rIns="0" tIns="0" bIns="0" anchor="t">
            <a:spAutoFit/>
          </a:bodyPr>
          <a:lstStyle/>
          <a:p>
            <a:pPr algn="l"/>
            <a:r>
              <a:rPr sz="4400" b="1" i="0">
                <a:solidFill>
                  <a:srgbClr val="F4F1EA"/>
                </a:solidFill>
                <a:latin typeface="Cambria"/>
              </a:rPr>
              <a:t>A Vision Transformer for antenna performance screening</a:t>
            </a:r>
          </a:p>
        </p:txBody>
      </p:sp>
      <p:sp>
        <p:nvSpPr>
          <p:cNvPr id="4" name="TextBox 3"/>
          <p:cNvSpPr txBox="1"/>
          <p:nvPr/>
        </p:nvSpPr>
        <p:spPr>
          <a:xfrm>
            <a:off x="731520" y="3886200"/>
            <a:ext cx="6583680" cy="1188720"/>
          </a:xfrm>
          <a:prstGeom prst="rect">
            <a:avLst/>
          </a:prstGeom>
          <a:noFill/>
        </p:spPr>
        <p:txBody>
          <a:bodyPr wrap="square" lIns="0" rIns="0" tIns="0" bIns="0" anchor="t">
            <a:spAutoFit/>
          </a:bodyPr>
          <a:lstStyle/>
          <a:p>
            <a:pPr algn="l"/>
            <a:r>
              <a:rPr sz="1800" b="0" i="0">
                <a:solidFill>
                  <a:srgbClr val="C9D3E3"/>
                </a:solidFill>
                <a:latin typeface="Calibri"/>
              </a:rPr>
              <a:t>Predicting impedance matching and band class from standardised geometry images: the first stage of a hybrid-slotted DGS patch antenna framework for 5G and 6G.</a:t>
            </a:r>
          </a:p>
        </p:txBody>
      </p:sp>
      <p:sp>
        <p:nvSpPr>
          <p:cNvPr id="5" name="TextBox 4"/>
          <p:cNvSpPr txBox="1"/>
          <p:nvPr/>
        </p:nvSpPr>
        <p:spPr>
          <a:xfrm>
            <a:off x="731520" y="5897880"/>
            <a:ext cx="6949440" cy="274320"/>
          </a:xfrm>
          <a:prstGeom prst="rect">
            <a:avLst/>
          </a:prstGeom>
          <a:noFill/>
        </p:spPr>
        <p:txBody>
          <a:bodyPr wrap="square" lIns="0" rIns="0" tIns="0" bIns="0" anchor="t">
            <a:spAutoFit/>
          </a:bodyPr>
          <a:lstStyle/>
          <a:p>
            <a:pPr algn="l"/>
            <a:r>
              <a:rPr sz="1300" b="0" i="0">
                <a:solidFill>
                  <a:srgbClr val="A7AFBC"/>
                </a:solidFill>
                <a:latin typeface="Calibri"/>
              </a:rPr>
              <a:t>Proof of concept on public simulated data  ·  October 2026</a:t>
            </a:r>
          </a:p>
        </p:txBody>
      </p:sp>
      <p:sp>
        <p:nvSpPr>
          <p:cNvPr id="6" name="Rounded Rectangle 5"/>
          <p:cNvSpPr/>
          <p:nvPr/>
        </p:nvSpPr>
        <p:spPr>
          <a:xfrm>
            <a:off x="8183879" y="1234440"/>
            <a:ext cx="3291840" cy="3291840"/>
          </a:xfrm>
          <a:prstGeom prst="roundRect">
            <a:avLst>
              <a:gd name="adj" fmla="val 8000"/>
            </a:avLst>
          </a:prstGeom>
          <a:solidFill>
            <a:srgbClr val="1E3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1307.png"/>
          <p:cNvPicPr>
            <a:picLocks noChangeAspect="1"/>
          </p:cNvPicPr>
          <p:nvPr/>
        </p:nvPicPr>
        <p:blipFill>
          <a:blip r:embed="rId2"/>
          <a:stretch>
            <a:fillRect/>
          </a:stretch>
        </p:blipFill>
        <p:spPr>
          <a:xfrm>
            <a:off x="8412480" y="1463040"/>
            <a:ext cx="2834640" cy="2834640"/>
          </a:xfrm>
          <a:prstGeom prst="rect">
            <a:avLst/>
          </a:prstGeom>
        </p:spPr>
      </p:pic>
      <p:sp>
        <p:nvSpPr>
          <p:cNvPr id="8" name="TextBox 7"/>
          <p:cNvSpPr txBox="1"/>
          <p:nvPr/>
        </p:nvSpPr>
        <p:spPr>
          <a:xfrm>
            <a:off x="8183879" y="4663440"/>
            <a:ext cx="3291840" cy="548640"/>
          </a:xfrm>
          <a:prstGeom prst="rect">
            <a:avLst/>
          </a:prstGeom>
          <a:noFill/>
        </p:spPr>
        <p:txBody>
          <a:bodyPr wrap="square" lIns="0" rIns="0" tIns="0" bIns="0" anchor="t">
            <a:spAutoFit/>
          </a:bodyPr>
          <a:lstStyle/>
          <a:p>
            <a:pPr algn="ctr"/>
            <a:r>
              <a:rPr sz="1200" b="0" i="0">
                <a:solidFill>
                  <a:srgbClr val="A7AFBC"/>
                </a:solidFill>
                <a:latin typeface="Calibri"/>
              </a:rPr>
              <a:t>Real model input · design P1307 (High)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WHAT MODULE 1 ASKS</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Can a ViT read antenna performance from a picture?</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2 / 13</a:t>
            </a:r>
          </a:p>
        </p:txBody>
      </p:sp>
      <p:sp>
        <p:nvSpPr>
          <p:cNvPr id="6" name="Rounded Rectangle 5"/>
          <p:cNvSpPr/>
          <p:nvPr/>
        </p:nvSpPr>
        <p:spPr>
          <a:xfrm>
            <a:off x="548640" y="1691640"/>
            <a:ext cx="11091672" cy="786384"/>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0512"/>
            <a:ext cx="548640" cy="54864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RQ1</a:t>
            </a:r>
          </a:p>
        </p:txBody>
      </p:sp>
      <p:sp>
        <p:nvSpPr>
          <p:cNvPr id="8" name="TextBox 7"/>
          <p:cNvSpPr txBox="1"/>
          <p:nvPr/>
        </p:nvSpPr>
        <p:spPr>
          <a:xfrm>
            <a:off x="1508760" y="1801368"/>
            <a:ext cx="2011680" cy="566928"/>
          </a:xfrm>
          <a:prstGeom prst="rect">
            <a:avLst/>
          </a:prstGeom>
          <a:noFill/>
        </p:spPr>
        <p:txBody>
          <a:bodyPr wrap="square" lIns="0" rIns="0" tIns="0" bIns="0" anchor="ctr">
            <a:spAutoFit/>
          </a:bodyPr>
          <a:lstStyle/>
          <a:p>
            <a:pPr algn="l"/>
            <a:r>
              <a:rPr sz="1700" b="1" i="0">
                <a:solidFill>
                  <a:srgbClr val="14213D"/>
                </a:solidFill>
                <a:latin typeface="Calibri"/>
              </a:rPr>
              <a:t>Prediction</a:t>
            </a:r>
          </a:p>
        </p:txBody>
      </p:sp>
      <p:sp>
        <p:nvSpPr>
          <p:cNvPr id="9" name="TextBox 8"/>
          <p:cNvSpPr txBox="1"/>
          <p:nvPr/>
        </p:nvSpPr>
        <p:spPr>
          <a:xfrm>
            <a:off x="3566160" y="1801368"/>
            <a:ext cx="7863840" cy="566928"/>
          </a:xfrm>
          <a:prstGeom prst="rect">
            <a:avLst/>
          </a:prstGeom>
          <a:noFill/>
        </p:spPr>
        <p:txBody>
          <a:bodyPr wrap="square" lIns="0" rIns="0" tIns="0" bIns="0" anchor="ctr">
            <a:spAutoFit/>
          </a:bodyPr>
          <a:lstStyle/>
          <a:p>
            <a:pPr algn="l"/>
            <a:r>
              <a:rPr sz="1600" b="0" i="0">
                <a:solidFill>
                  <a:srgbClr val="465166"/>
                </a:solidFill>
                <a:latin typeface="Calibri"/>
              </a:rPr>
              <a:t>Can a standardised geometry image predict an antenna’s performance class?</a:t>
            </a:r>
          </a:p>
        </p:txBody>
      </p:sp>
      <p:sp>
        <p:nvSpPr>
          <p:cNvPr id="10" name="Rounded Rectangle 9"/>
          <p:cNvSpPr/>
          <p:nvPr/>
        </p:nvSpPr>
        <p:spPr>
          <a:xfrm>
            <a:off x="548640" y="2587752"/>
            <a:ext cx="11091672" cy="786384"/>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2706624"/>
            <a:ext cx="548640" cy="54864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RQ2</a:t>
            </a:r>
          </a:p>
        </p:txBody>
      </p:sp>
      <p:sp>
        <p:nvSpPr>
          <p:cNvPr id="12" name="TextBox 11"/>
          <p:cNvSpPr txBox="1"/>
          <p:nvPr/>
        </p:nvSpPr>
        <p:spPr>
          <a:xfrm>
            <a:off x="1508760" y="2697480"/>
            <a:ext cx="2011680" cy="566928"/>
          </a:xfrm>
          <a:prstGeom prst="rect">
            <a:avLst/>
          </a:prstGeom>
          <a:noFill/>
        </p:spPr>
        <p:txBody>
          <a:bodyPr wrap="square" lIns="0" rIns="0" tIns="0" bIns="0" anchor="ctr">
            <a:spAutoFit/>
          </a:bodyPr>
          <a:lstStyle/>
          <a:p>
            <a:pPr algn="l"/>
            <a:r>
              <a:rPr sz="1700" b="1" i="0">
                <a:solidFill>
                  <a:srgbClr val="14213D"/>
                </a:solidFill>
                <a:latin typeface="Calibri"/>
              </a:rPr>
              <a:t>Architecture</a:t>
            </a:r>
          </a:p>
        </p:txBody>
      </p:sp>
      <p:sp>
        <p:nvSpPr>
          <p:cNvPr id="13" name="TextBox 12"/>
          <p:cNvSpPr txBox="1"/>
          <p:nvPr/>
        </p:nvSpPr>
        <p:spPr>
          <a:xfrm>
            <a:off x="3566160" y="2697480"/>
            <a:ext cx="7863840" cy="566928"/>
          </a:xfrm>
          <a:prstGeom prst="rect">
            <a:avLst/>
          </a:prstGeom>
          <a:noFill/>
        </p:spPr>
        <p:txBody>
          <a:bodyPr wrap="square" lIns="0" rIns="0" tIns="0" bIns="0" anchor="ctr">
            <a:spAutoFit/>
          </a:bodyPr>
          <a:lstStyle/>
          <a:p>
            <a:pPr algn="l"/>
            <a:r>
              <a:rPr sz="1600" b="0" i="0">
                <a:solidFill>
                  <a:srgbClr val="465166"/>
                </a:solidFill>
                <a:latin typeface="Calibri"/>
              </a:rPr>
              <a:t>Does a pretrained ViT beat a compact CNN under the same design-level split?</a:t>
            </a:r>
          </a:p>
        </p:txBody>
      </p:sp>
      <p:sp>
        <p:nvSpPr>
          <p:cNvPr id="14" name="Rounded Rectangle 13"/>
          <p:cNvSpPr/>
          <p:nvPr/>
        </p:nvSpPr>
        <p:spPr>
          <a:xfrm>
            <a:off x="548640" y="3483864"/>
            <a:ext cx="11091672" cy="786384"/>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8" y="3602736"/>
            <a:ext cx="548640" cy="54864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RQ3</a:t>
            </a:r>
          </a:p>
        </p:txBody>
      </p:sp>
      <p:sp>
        <p:nvSpPr>
          <p:cNvPr id="16" name="TextBox 15"/>
          <p:cNvSpPr txBox="1"/>
          <p:nvPr/>
        </p:nvSpPr>
        <p:spPr>
          <a:xfrm>
            <a:off x="1508760" y="3593592"/>
            <a:ext cx="2011680" cy="566928"/>
          </a:xfrm>
          <a:prstGeom prst="rect">
            <a:avLst/>
          </a:prstGeom>
          <a:noFill/>
        </p:spPr>
        <p:txBody>
          <a:bodyPr wrap="square" lIns="0" rIns="0" tIns="0" bIns="0" anchor="ctr">
            <a:spAutoFit/>
          </a:bodyPr>
          <a:lstStyle/>
          <a:p>
            <a:pPr algn="l"/>
            <a:r>
              <a:rPr sz="1700" b="1" i="0">
                <a:solidFill>
                  <a:srgbClr val="14213D"/>
                </a:solidFill>
                <a:latin typeface="Calibri"/>
              </a:rPr>
              <a:t>Modality</a:t>
            </a:r>
          </a:p>
        </p:txBody>
      </p:sp>
      <p:sp>
        <p:nvSpPr>
          <p:cNvPr id="17" name="TextBox 16"/>
          <p:cNvSpPr txBox="1"/>
          <p:nvPr/>
        </p:nvSpPr>
        <p:spPr>
          <a:xfrm>
            <a:off x="3566160" y="3593592"/>
            <a:ext cx="7863840" cy="566928"/>
          </a:xfrm>
          <a:prstGeom prst="rect">
            <a:avLst/>
          </a:prstGeom>
          <a:noFill/>
        </p:spPr>
        <p:txBody>
          <a:bodyPr wrap="square" lIns="0" rIns="0" tIns="0" bIns="0" anchor="ctr">
            <a:spAutoFit/>
          </a:bodyPr>
          <a:lstStyle/>
          <a:p>
            <a:pPr algn="l"/>
            <a:r>
              <a:rPr sz="1600" b="0" i="0">
                <a:solidFill>
                  <a:srgbClr val="465166"/>
                </a:solidFill>
                <a:latin typeface="Calibri"/>
              </a:rPr>
              <a:t>Which image type carries most signal: geometry drawings or radiation-pattern plots?</a:t>
            </a:r>
          </a:p>
        </p:txBody>
      </p:sp>
      <p:sp>
        <p:nvSpPr>
          <p:cNvPr id="18" name="Rounded Rectangle 17"/>
          <p:cNvSpPr/>
          <p:nvPr/>
        </p:nvSpPr>
        <p:spPr>
          <a:xfrm>
            <a:off x="548640" y="4379976"/>
            <a:ext cx="11091672" cy="786384"/>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498848"/>
            <a:ext cx="548640" cy="54864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RQ4</a:t>
            </a:r>
          </a:p>
        </p:txBody>
      </p:sp>
      <p:sp>
        <p:nvSpPr>
          <p:cNvPr id="20" name="TextBox 19"/>
          <p:cNvSpPr txBox="1"/>
          <p:nvPr/>
        </p:nvSpPr>
        <p:spPr>
          <a:xfrm>
            <a:off x="1508760" y="4489704"/>
            <a:ext cx="2011680" cy="566928"/>
          </a:xfrm>
          <a:prstGeom prst="rect">
            <a:avLst/>
          </a:prstGeom>
          <a:noFill/>
        </p:spPr>
        <p:txBody>
          <a:bodyPr wrap="square" lIns="0" rIns="0" tIns="0" bIns="0" anchor="ctr">
            <a:spAutoFit/>
          </a:bodyPr>
          <a:lstStyle/>
          <a:p>
            <a:pPr algn="l"/>
            <a:r>
              <a:rPr sz="1700" b="1" i="0">
                <a:solidFill>
                  <a:srgbClr val="14213D"/>
                </a:solidFill>
                <a:latin typeface="Calibri"/>
              </a:rPr>
              <a:t>Explainability</a:t>
            </a:r>
          </a:p>
        </p:txBody>
      </p:sp>
      <p:sp>
        <p:nvSpPr>
          <p:cNvPr id="21" name="TextBox 20"/>
          <p:cNvSpPr txBox="1"/>
          <p:nvPr/>
        </p:nvSpPr>
        <p:spPr>
          <a:xfrm>
            <a:off x="3566160" y="4489704"/>
            <a:ext cx="7863840" cy="566928"/>
          </a:xfrm>
          <a:prstGeom prst="rect">
            <a:avLst/>
          </a:prstGeom>
          <a:noFill/>
        </p:spPr>
        <p:txBody>
          <a:bodyPr wrap="square" lIns="0" rIns="0" tIns="0" bIns="0" anchor="ctr">
            <a:spAutoFit/>
          </a:bodyPr>
          <a:lstStyle/>
          <a:p>
            <a:pPr algn="l"/>
            <a:r>
              <a:rPr sz="1600" b="0" i="0">
                <a:solidFill>
                  <a:srgbClr val="465166"/>
                </a:solidFill>
                <a:latin typeface="Calibri"/>
              </a:rPr>
              <a:t>Does the ViT’s attention fall on physically meaningful regions (patch, feed)?</a:t>
            </a:r>
          </a:p>
        </p:txBody>
      </p:sp>
      <p:sp>
        <p:nvSpPr>
          <p:cNvPr id="22" name="Rounded Rectangle 21"/>
          <p:cNvSpPr/>
          <p:nvPr/>
        </p:nvSpPr>
        <p:spPr>
          <a:xfrm>
            <a:off x="548640" y="5276088"/>
            <a:ext cx="11091672" cy="786384"/>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8" y="5394959"/>
            <a:ext cx="548640" cy="54864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RQ5</a:t>
            </a:r>
          </a:p>
        </p:txBody>
      </p:sp>
      <p:sp>
        <p:nvSpPr>
          <p:cNvPr id="24" name="TextBox 23"/>
          <p:cNvSpPr txBox="1"/>
          <p:nvPr/>
        </p:nvSpPr>
        <p:spPr>
          <a:xfrm>
            <a:off x="1508760" y="5385816"/>
            <a:ext cx="2011680" cy="566928"/>
          </a:xfrm>
          <a:prstGeom prst="rect">
            <a:avLst/>
          </a:prstGeom>
          <a:noFill/>
        </p:spPr>
        <p:txBody>
          <a:bodyPr wrap="square" lIns="0" rIns="0" tIns="0" bIns="0" anchor="ctr">
            <a:spAutoFit/>
          </a:bodyPr>
          <a:lstStyle/>
          <a:p>
            <a:pPr algn="l"/>
            <a:r>
              <a:rPr sz="1700" b="1" i="0">
                <a:solidFill>
                  <a:srgbClr val="14213D"/>
                </a:solidFill>
                <a:latin typeface="Calibri"/>
              </a:rPr>
              <a:t>Robustness</a:t>
            </a:r>
          </a:p>
        </p:txBody>
      </p:sp>
      <p:sp>
        <p:nvSpPr>
          <p:cNvPr id="25" name="TextBox 24"/>
          <p:cNvSpPr txBox="1"/>
          <p:nvPr/>
        </p:nvSpPr>
        <p:spPr>
          <a:xfrm>
            <a:off x="3566160" y="5385816"/>
            <a:ext cx="7863840" cy="566928"/>
          </a:xfrm>
          <a:prstGeom prst="rect">
            <a:avLst/>
          </a:prstGeom>
          <a:noFill/>
        </p:spPr>
        <p:txBody>
          <a:bodyPr wrap="square" lIns="0" rIns="0" tIns="0" bIns="0" anchor="ctr">
            <a:spAutoFit/>
          </a:bodyPr>
          <a:lstStyle/>
          <a:p>
            <a:pPr algn="l"/>
            <a:r>
              <a:rPr sz="1600" b="0" i="0">
                <a:solidFill>
                  <a:srgbClr val="465166"/>
                </a:solidFill>
                <a:latin typeface="Calibri"/>
              </a:rPr>
              <a:t>How do predictions hold up on unseen shapes and altered images?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DATA</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Two public image datasets stand in for HFSS</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3 / 13</a:t>
            </a:r>
          </a:p>
        </p:txBody>
      </p:sp>
      <p:sp>
        <p:nvSpPr>
          <p:cNvPr id="6" name="Rounded Rectangle 5"/>
          <p:cNvSpPr/>
          <p:nvPr/>
        </p:nvSpPr>
        <p:spPr>
          <a:xfrm>
            <a:off x="548640" y="1691640"/>
            <a:ext cx="5404104" cy="35661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754880" cy="822960"/>
          </a:xfrm>
          <a:prstGeom prst="rect">
            <a:avLst/>
          </a:prstGeom>
          <a:noFill/>
        </p:spPr>
        <p:txBody>
          <a:bodyPr wrap="square" lIns="0" rIns="0" tIns="0" bIns="0" anchor="b">
            <a:spAutoFit/>
          </a:bodyPr>
          <a:lstStyle/>
          <a:p>
            <a:pPr algn="l"/>
            <a:r>
              <a:rPr sz="4800" b="1" i="0">
                <a:solidFill>
                  <a:srgbClr val="9A5A1F"/>
                </a:solidFill>
                <a:latin typeface="Cambria"/>
              </a:rPr>
              <a:t>2,051</a:t>
            </a:r>
            <a:r>
              <a:rPr sz="1800" b="0" i="0">
                <a:solidFill>
                  <a:srgbClr val="1F2A44"/>
                </a:solidFill>
                <a:latin typeface="Calibri"/>
              </a:rPr>
              <a:t>  patch designs</a:t>
            </a:r>
          </a:p>
        </p:txBody>
      </p:sp>
      <p:sp>
        <p:nvSpPr>
          <p:cNvPr id="8" name="TextBox 7"/>
          <p:cNvSpPr txBox="1"/>
          <p:nvPr/>
        </p:nvSpPr>
        <p:spPr>
          <a:xfrm>
            <a:off x="914400" y="2880360"/>
            <a:ext cx="4754880" cy="365760"/>
          </a:xfrm>
          <a:prstGeom prst="rect">
            <a:avLst/>
          </a:prstGeom>
          <a:noFill/>
        </p:spPr>
        <p:txBody>
          <a:bodyPr wrap="square" lIns="0" rIns="0" tIns="0" bIns="0" anchor="t">
            <a:spAutoFit/>
          </a:bodyPr>
          <a:lstStyle/>
          <a:p>
            <a:pPr algn="l"/>
            <a:r>
              <a:rPr sz="1800" b="1" i="0">
                <a:solidFill>
                  <a:srgbClr val="14213D"/>
                </a:solidFill>
                <a:latin typeface="Calibri"/>
              </a:rPr>
              <a:t>Rectangular patch antennas · openEMS</a:t>
            </a:r>
          </a:p>
        </p:txBody>
      </p:sp>
      <p:sp>
        <p:nvSpPr>
          <p:cNvPr id="9" name="TextBox 8"/>
          <p:cNvSpPr txBox="1"/>
          <p:nvPr/>
        </p:nvSpPr>
        <p:spPr>
          <a:xfrm>
            <a:off x="914400" y="3383280"/>
            <a:ext cx="4754880" cy="1737360"/>
          </a:xfrm>
          <a:prstGeom prst="rect">
            <a:avLst/>
          </a:prstGeom>
          <a:noFill/>
        </p:spPr>
        <p:txBody>
          <a:bodyPr wrap="square" lIns="0" rIns="0" tIns="0" bIns="0" anchor="t">
            <a:spAutoFit/>
          </a:bodyPr>
          <a:lstStyle/>
          <a:p>
            <a:pPr algn="l">
              <a:spcAft>
                <a:spcPts val="600"/>
              </a:spcAft>
            </a:pPr>
            <a:r>
              <a:rPr sz="1400" b="0" i="0">
                <a:solidFill>
                  <a:srgbClr val="465166"/>
                </a:solidFill>
                <a:latin typeface="Calibri"/>
              </a:rPr>
              <a:t>Source: Hugging Face (LaBash et al., 2025), MIT licence</a:t>
            </a:r>
          </a:p>
          <a:p>
            <a:pPr algn="l">
              <a:spcAft>
                <a:spcPts val="600"/>
              </a:spcAft>
            </a:pPr>
            <a:r>
              <a:rPr sz="1400" b="0" i="0">
                <a:solidFill>
                  <a:srgbClr val="465166"/>
                </a:solidFill>
                <a:latin typeface="Calibri"/>
              </a:rPr>
              <a:t>Coax-fed patch, εr 3.68, h 1.61 mm</a:t>
            </a:r>
          </a:p>
          <a:p>
            <a:pPr algn="l">
              <a:spcAft>
                <a:spcPts val="600"/>
              </a:spcAft>
            </a:pPr>
            <a:r>
              <a:rPr sz="1400" b="0" i="0">
                <a:solidFill>
                  <a:srgbClr val="465166"/>
                </a:solidFill>
                <a:latin typeface="Calibri"/>
              </a:rPr>
              <a:t>Tasks: matching class (main) and band class</a:t>
            </a:r>
          </a:p>
          <a:p>
            <a:pPr algn="l">
              <a:spcAft>
                <a:spcPts val="600"/>
              </a:spcAft>
            </a:pPr>
            <a:r>
              <a:rPr sz="1400" b="0" i="0">
                <a:solidFill>
                  <a:srgbClr val="465166"/>
                </a:solidFill>
                <a:latin typeface="Calibri"/>
              </a:rPr>
              <a:t>Split: 1,220 train / 262 val / 262 test + 307 OOD</a:t>
            </a:r>
          </a:p>
        </p:txBody>
      </p:sp>
      <p:sp>
        <p:nvSpPr>
          <p:cNvPr id="10" name="Rounded Rectangle 9"/>
          <p:cNvSpPr/>
          <p:nvPr/>
        </p:nvSpPr>
        <p:spPr>
          <a:xfrm>
            <a:off x="6236208" y="1691640"/>
            <a:ext cx="5404104" cy="35661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4754880" cy="822960"/>
          </a:xfrm>
          <a:prstGeom prst="rect">
            <a:avLst/>
          </a:prstGeom>
          <a:noFill/>
        </p:spPr>
        <p:txBody>
          <a:bodyPr wrap="square" lIns="0" rIns="0" tIns="0" bIns="0" anchor="b">
            <a:spAutoFit/>
          </a:bodyPr>
          <a:lstStyle/>
          <a:p>
            <a:pPr algn="l"/>
            <a:r>
              <a:rPr sz="4800" b="1" i="0">
                <a:solidFill>
                  <a:srgbClr val="9A5A1F"/>
                </a:solidFill>
                <a:latin typeface="Cambria"/>
              </a:rPr>
              <a:t>3,000</a:t>
            </a:r>
            <a:r>
              <a:rPr sz="1800" b="0" i="0">
                <a:solidFill>
                  <a:srgbClr val="1F2A44"/>
                </a:solidFill>
                <a:latin typeface="Calibri"/>
              </a:rPr>
              <a:t>  polar plots</a:t>
            </a:r>
          </a:p>
        </p:txBody>
      </p:sp>
      <p:sp>
        <p:nvSpPr>
          <p:cNvPr id="12" name="TextBox 11"/>
          <p:cNvSpPr txBox="1"/>
          <p:nvPr/>
        </p:nvSpPr>
        <p:spPr>
          <a:xfrm>
            <a:off x="6601968" y="2880360"/>
            <a:ext cx="4754880" cy="365760"/>
          </a:xfrm>
          <a:prstGeom prst="rect">
            <a:avLst/>
          </a:prstGeom>
          <a:noFill/>
        </p:spPr>
        <p:txBody>
          <a:bodyPr wrap="square" lIns="0" rIns="0" tIns="0" bIns="0" anchor="t">
            <a:spAutoFit/>
          </a:bodyPr>
          <a:lstStyle/>
          <a:p>
            <a:pPr algn="l"/>
            <a:r>
              <a:rPr sz="1800" b="1" i="0">
                <a:solidFill>
                  <a:srgbClr val="14213D"/>
                </a:solidFill>
                <a:latin typeface="Calibri"/>
              </a:rPr>
              <a:t>RadPat-50K radiation patterns</a:t>
            </a:r>
          </a:p>
        </p:txBody>
      </p:sp>
      <p:sp>
        <p:nvSpPr>
          <p:cNvPr id="13" name="TextBox 12"/>
          <p:cNvSpPr txBox="1"/>
          <p:nvPr/>
        </p:nvSpPr>
        <p:spPr>
          <a:xfrm>
            <a:off x="6601968" y="3383280"/>
            <a:ext cx="4754880" cy="1737360"/>
          </a:xfrm>
          <a:prstGeom prst="rect">
            <a:avLst/>
          </a:prstGeom>
          <a:noFill/>
        </p:spPr>
        <p:txBody>
          <a:bodyPr wrap="square" lIns="0" rIns="0" tIns="0" bIns="0" anchor="t">
            <a:spAutoFit/>
          </a:bodyPr>
          <a:lstStyle/>
          <a:p>
            <a:pPr algn="l">
              <a:spcAft>
                <a:spcPts val="600"/>
              </a:spcAft>
            </a:pPr>
            <a:r>
              <a:rPr sz="1400" b="0" i="0">
                <a:solidFill>
                  <a:srgbClr val="465166"/>
                </a:solidFill>
                <a:latin typeface="Calibri"/>
              </a:rPr>
              <a:t>Source: Zenodo (Bhuma et al., 2025), CC BY 4.0</a:t>
            </a:r>
          </a:p>
          <a:p>
            <a:pPr algn="l">
              <a:spcAft>
                <a:spcPts val="600"/>
              </a:spcAft>
            </a:pPr>
            <a:r>
              <a:rPr sz="1400" b="0" i="0">
                <a:solidFill>
                  <a:srgbClr val="465166"/>
                </a:solidFill>
                <a:latin typeface="Calibri"/>
              </a:rPr>
              <a:t>Linear-array patterns, sampled from the 10K polar set</a:t>
            </a:r>
          </a:p>
          <a:p>
            <a:pPr algn="l">
              <a:spcAft>
                <a:spcPts val="600"/>
              </a:spcAft>
            </a:pPr>
            <a:r>
              <a:rPr sz="1400" b="0" i="0">
                <a:solidFill>
                  <a:srgbClr val="465166"/>
                </a:solidFill>
                <a:latin typeface="Calibri"/>
              </a:rPr>
              <a:t>Task: beamwidth class (Narrow / Medium / Wide)</a:t>
            </a:r>
          </a:p>
          <a:p>
            <a:pPr algn="l">
              <a:spcAft>
                <a:spcPts val="600"/>
              </a:spcAft>
            </a:pPr>
            <a:r>
              <a:rPr sz="1400" b="0" i="0">
                <a:solidFill>
                  <a:srgbClr val="465166"/>
                </a:solidFill>
                <a:latin typeface="Calibri"/>
              </a:rPr>
              <a:t>Split: 2,100 train / 450 val / 450 test</a:t>
            </a:r>
          </a:p>
        </p:txBody>
      </p:sp>
      <p:sp>
        <p:nvSpPr>
          <p:cNvPr id="14" name="Rounded Rectangle 13"/>
          <p:cNvSpPr/>
          <p:nvPr/>
        </p:nvSpPr>
        <p:spPr>
          <a:xfrm>
            <a:off x="548640" y="5486400"/>
            <a:ext cx="11091672" cy="640080"/>
          </a:xfrm>
          <a:prstGeom prst="roundRect">
            <a:avLst>
              <a:gd name="adj" fmla="val 8000"/>
            </a:avLst>
          </a:prstGeom>
          <a:solidFill>
            <a:srgbClr val="FA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486400"/>
            <a:ext cx="10607040" cy="640080"/>
          </a:xfrm>
          <a:prstGeom prst="rect">
            <a:avLst/>
          </a:prstGeom>
          <a:noFill/>
        </p:spPr>
        <p:txBody>
          <a:bodyPr wrap="square" lIns="0" rIns="0" tIns="0" bIns="0" anchor="ctr">
            <a:spAutoFit/>
          </a:bodyPr>
          <a:lstStyle/>
          <a:p>
            <a:pPr algn="l"/>
            <a:r>
              <a:rPr sz="1400" b="1" i="0">
                <a:solidFill>
                  <a:srgbClr val="9A5A1F"/>
                </a:solidFill>
                <a:latin typeface="Calibri"/>
              </a:rPr>
              <a:t>Scope note  </a:t>
            </a:r>
            <a:r>
              <a:rPr sz="1400" b="0" i="0">
                <a:solidFill>
                  <a:srgbClr val="1F2A44"/>
                </a:solidFill>
                <a:latin typeface="Calibri"/>
              </a:rPr>
              <a:t>No HFSS data was used. The patches have no slots or DGS, so results are a proof of method, not of the target antenna.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INPUT REPRESENTATION</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Every design becomes one standard 224×224 image</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4 / 13</a:t>
            </a:r>
          </a:p>
        </p:txBody>
      </p:sp>
      <p:pic>
        <p:nvPicPr>
          <p:cNvPr id="6" name="Picture 5" descr="P0186.png"/>
          <p:cNvPicPr>
            <a:picLocks noChangeAspect="1"/>
          </p:cNvPicPr>
          <p:nvPr/>
        </p:nvPicPr>
        <p:blipFill>
          <a:blip r:embed="rId3"/>
          <a:stretch>
            <a:fillRect/>
          </a:stretch>
        </p:blipFill>
        <p:spPr>
          <a:xfrm>
            <a:off x="548640" y="1828800"/>
            <a:ext cx="1965960" cy="1965960"/>
          </a:xfrm>
          <a:prstGeom prst="rect">
            <a:avLst/>
          </a:prstGeom>
        </p:spPr>
      </p:pic>
      <p:sp>
        <p:nvSpPr>
          <p:cNvPr id="7" name="TextBox 6"/>
          <p:cNvSpPr txBox="1"/>
          <p:nvPr/>
        </p:nvSpPr>
        <p:spPr>
          <a:xfrm>
            <a:off x="548640" y="3886200"/>
            <a:ext cx="1965960" cy="548640"/>
          </a:xfrm>
          <a:prstGeom prst="rect">
            <a:avLst/>
          </a:prstGeom>
          <a:noFill/>
        </p:spPr>
        <p:txBody>
          <a:bodyPr wrap="square" lIns="0" rIns="0" tIns="0" bIns="0" anchor="t">
            <a:spAutoFit/>
          </a:bodyPr>
          <a:lstStyle/>
          <a:p>
            <a:pPr algn="ctr"/>
            <a:r>
              <a:rPr sz="1400" b="1" i="0">
                <a:solidFill>
                  <a:srgbClr val="14213D"/>
                </a:solidFill>
                <a:latin typeface="Calibri"/>
              </a:rPr>
              <a:t>Poor</a:t>
            </a:r>
          </a:p>
          <a:p>
            <a:pPr algn="ctr"/>
            <a:r>
              <a:rPr sz="1100" b="0" i="0">
                <a:solidFill>
                  <a:srgbClr val="6B7586"/>
                </a:solidFill>
                <a:latin typeface="Calibri"/>
              </a:rPr>
              <a:t>P0186</a:t>
            </a:r>
          </a:p>
        </p:txBody>
      </p:sp>
      <p:pic>
        <p:nvPicPr>
          <p:cNvPr id="8" name="Picture 7" descr="P0863.png"/>
          <p:cNvPicPr>
            <a:picLocks noChangeAspect="1"/>
          </p:cNvPicPr>
          <p:nvPr/>
        </p:nvPicPr>
        <p:blipFill>
          <a:blip r:embed="rId4"/>
          <a:stretch>
            <a:fillRect/>
          </a:stretch>
        </p:blipFill>
        <p:spPr>
          <a:xfrm>
            <a:off x="2697480" y="1828800"/>
            <a:ext cx="1965960" cy="1965960"/>
          </a:xfrm>
          <a:prstGeom prst="rect">
            <a:avLst/>
          </a:prstGeom>
        </p:spPr>
      </p:pic>
      <p:sp>
        <p:nvSpPr>
          <p:cNvPr id="9" name="TextBox 8"/>
          <p:cNvSpPr txBox="1"/>
          <p:nvPr/>
        </p:nvSpPr>
        <p:spPr>
          <a:xfrm>
            <a:off x="2697480" y="3886200"/>
            <a:ext cx="1965960" cy="548640"/>
          </a:xfrm>
          <a:prstGeom prst="rect">
            <a:avLst/>
          </a:prstGeom>
          <a:noFill/>
        </p:spPr>
        <p:txBody>
          <a:bodyPr wrap="square" lIns="0" rIns="0" tIns="0" bIns="0" anchor="t">
            <a:spAutoFit/>
          </a:bodyPr>
          <a:lstStyle/>
          <a:p>
            <a:pPr algn="ctr"/>
            <a:r>
              <a:rPr sz="1400" b="1" i="0">
                <a:solidFill>
                  <a:srgbClr val="14213D"/>
                </a:solidFill>
                <a:latin typeface="Calibri"/>
              </a:rPr>
              <a:t>Acceptable</a:t>
            </a:r>
          </a:p>
          <a:p>
            <a:pPr algn="ctr"/>
            <a:r>
              <a:rPr sz="1100" b="0" i="0">
                <a:solidFill>
                  <a:srgbClr val="6B7586"/>
                </a:solidFill>
                <a:latin typeface="Calibri"/>
              </a:rPr>
              <a:t>P0863</a:t>
            </a:r>
          </a:p>
        </p:txBody>
      </p:sp>
      <p:pic>
        <p:nvPicPr>
          <p:cNvPr id="10" name="Picture 9" descr="P1307.png"/>
          <p:cNvPicPr>
            <a:picLocks noChangeAspect="1"/>
          </p:cNvPicPr>
          <p:nvPr/>
        </p:nvPicPr>
        <p:blipFill>
          <a:blip r:embed="rId5"/>
          <a:stretch>
            <a:fillRect/>
          </a:stretch>
        </p:blipFill>
        <p:spPr>
          <a:xfrm>
            <a:off x="4846320" y="1828800"/>
            <a:ext cx="1965960" cy="1965960"/>
          </a:xfrm>
          <a:prstGeom prst="rect">
            <a:avLst/>
          </a:prstGeom>
        </p:spPr>
      </p:pic>
      <p:sp>
        <p:nvSpPr>
          <p:cNvPr id="11" name="TextBox 10"/>
          <p:cNvSpPr txBox="1"/>
          <p:nvPr/>
        </p:nvSpPr>
        <p:spPr>
          <a:xfrm>
            <a:off x="4846320" y="3886200"/>
            <a:ext cx="1965960" cy="548640"/>
          </a:xfrm>
          <a:prstGeom prst="rect">
            <a:avLst/>
          </a:prstGeom>
          <a:noFill/>
        </p:spPr>
        <p:txBody>
          <a:bodyPr wrap="square" lIns="0" rIns="0" tIns="0" bIns="0" anchor="t">
            <a:spAutoFit/>
          </a:bodyPr>
          <a:lstStyle/>
          <a:p>
            <a:pPr algn="ctr"/>
            <a:r>
              <a:rPr sz="1400" b="1" i="0">
                <a:solidFill>
                  <a:srgbClr val="14213D"/>
                </a:solidFill>
                <a:latin typeface="Calibri"/>
              </a:rPr>
              <a:t>High</a:t>
            </a:r>
          </a:p>
          <a:p>
            <a:pPr algn="ctr"/>
            <a:r>
              <a:rPr sz="1100" b="0" i="0">
                <a:solidFill>
                  <a:srgbClr val="6B7586"/>
                </a:solidFill>
                <a:latin typeface="Calibri"/>
              </a:rPr>
              <a:t>P1307</a:t>
            </a:r>
          </a:p>
        </p:txBody>
      </p:sp>
      <p:sp>
        <p:nvSpPr>
          <p:cNvPr id="12" name="TextBox 11"/>
          <p:cNvSpPr txBox="1"/>
          <p:nvPr/>
        </p:nvSpPr>
        <p:spPr>
          <a:xfrm>
            <a:off x="548640" y="4754880"/>
            <a:ext cx="6309360" cy="731520"/>
          </a:xfrm>
          <a:prstGeom prst="rect">
            <a:avLst/>
          </a:prstGeom>
          <a:noFill/>
        </p:spPr>
        <p:txBody>
          <a:bodyPr wrap="square" lIns="0" rIns="0" tIns="0" bIns="0" anchor="t">
            <a:spAutoFit/>
          </a:bodyPr>
          <a:lstStyle/>
          <a:p>
            <a:pPr algn="l"/>
            <a:r>
              <a:rPr sz="1200" b="0" i="1">
                <a:solidFill>
                  <a:srgbClr val="6B7586"/>
                </a:solidFill>
                <a:latin typeface="Calibri"/>
              </a:rPr>
              <a:t>Actual inputs from the test split. Same colours, feed dot and canvas for every design.</a:t>
            </a:r>
          </a:p>
        </p:txBody>
      </p:sp>
      <p:sp>
        <p:nvSpPr>
          <p:cNvPr id="13" name="Oval 12"/>
          <p:cNvSpPr/>
          <p:nvPr/>
        </p:nvSpPr>
        <p:spPr>
          <a:xfrm>
            <a:off x="7178040" y="178308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7863840" y="1764792"/>
            <a:ext cx="3794760" cy="365760"/>
          </a:xfrm>
          <a:prstGeom prst="rect">
            <a:avLst/>
          </a:prstGeom>
          <a:noFill/>
        </p:spPr>
        <p:txBody>
          <a:bodyPr wrap="square" lIns="0" rIns="0" tIns="0" bIns="0" anchor="t">
            <a:spAutoFit/>
          </a:bodyPr>
          <a:lstStyle/>
          <a:p>
            <a:pPr algn="l"/>
            <a:r>
              <a:rPr sz="1700" b="1" i="0">
                <a:solidFill>
                  <a:srgbClr val="14213D"/>
                </a:solidFill>
                <a:latin typeface="Calibri"/>
              </a:rPr>
              <a:t>Top panel · absolute scale</a:t>
            </a:r>
          </a:p>
        </p:txBody>
      </p:sp>
      <p:sp>
        <p:nvSpPr>
          <p:cNvPr id="15" name="TextBox 14"/>
          <p:cNvSpPr txBox="1"/>
          <p:nvPr/>
        </p:nvSpPr>
        <p:spPr>
          <a:xfrm>
            <a:off x="7863840" y="2167128"/>
            <a:ext cx="3794760" cy="822960"/>
          </a:xfrm>
          <a:prstGeom prst="rect">
            <a:avLst/>
          </a:prstGeom>
          <a:noFill/>
        </p:spPr>
        <p:txBody>
          <a:bodyPr wrap="square" lIns="0" rIns="0" tIns="0" bIns="0" anchor="t">
            <a:spAutoFit/>
          </a:bodyPr>
          <a:lstStyle/>
          <a:p>
            <a:pPr algn="l"/>
            <a:r>
              <a:rPr sz="1400" b="0" i="0">
                <a:solidFill>
                  <a:srgbClr val="465166"/>
                </a:solidFill>
                <a:latin typeface="Calibri"/>
              </a:rPr>
              <a:t>Fixed 1.962 px/mm. Patch size is visible, and size drives the resonant frequency.</a:t>
            </a:r>
          </a:p>
        </p:txBody>
      </p:sp>
      <p:sp>
        <p:nvSpPr>
          <p:cNvPr id="16" name="Oval 15"/>
          <p:cNvSpPr/>
          <p:nvPr/>
        </p:nvSpPr>
        <p:spPr>
          <a:xfrm>
            <a:off x="7178040" y="310896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7" name="TextBox 16"/>
          <p:cNvSpPr txBox="1"/>
          <p:nvPr/>
        </p:nvSpPr>
        <p:spPr>
          <a:xfrm>
            <a:off x="7863840" y="3090672"/>
            <a:ext cx="3794760" cy="365760"/>
          </a:xfrm>
          <a:prstGeom prst="rect">
            <a:avLst/>
          </a:prstGeom>
          <a:noFill/>
        </p:spPr>
        <p:txBody>
          <a:bodyPr wrap="square" lIns="0" rIns="0" tIns="0" bIns="0" anchor="t">
            <a:spAutoFit/>
          </a:bodyPr>
          <a:lstStyle/>
          <a:p>
            <a:pPr algn="l"/>
            <a:r>
              <a:rPr sz="1700" b="1" i="0">
                <a:solidFill>
                  <a:srgbClr val="14213D"/>
                </a:solidFill>
                <a:latin typeface="Calibri"/>
              </a:rPr>
              <a:t>Bottom panel · zoomed to fill</a:t>
            </a:r>
          </a:p>
        </p:txBody>
      </p:sp>
      <p:sp>
        <p:nvSpPr>
          <p:cNvPr id="18" name="TextBox 17"/>
          <p:cNvSpPr txBox="1"/>
          <p:nvPr/>
        </p:nvSpPr>
        <p:spPr>
          <a:xfrm>
            <a:off x="7863840" y="3493008"/>
            <a:ext cx="3794760" cy="822960"/>
          </a:xfrm>
          <a:prstGeom prst="rect">
            <a:avLst/>
          </a:prstGeom>
          <a:noFill/>
        </p:spPr>
        <p:txBody>
          <a:bodyPr wrap="square" lIns="0" rIns="0" tIns="0" bIns="0" anchor="t">
            <a:spAutoFit/>
          </a:bodyPr>
          <a:lstStyle/>
          <a:p>
            <a:pPr algn="l"/>
            <a:r>
              <a:rPr sz="1400" b="0" i="0">
                <a:solidFill>
                  <a:srgbClr val="465166"/>
                </a:solidFill>
                <a:latin typeface="Calibri"/>
              </a:rPr>
              <a:t>The same patch, enlarged. The feed position, which drives matching, can be resolved.</a:t>
            </a:r>
          </a:p>
        </p:txBody>
      </p:sp>
      <p:sp>
        <p:nvSpPr>
          <p:cNvPr id="19" name="Oval 18"/>
          <p:cNvSpPr/>
          <p:nvPr/>
        </p:nvSpPr>
        <p:spPr>
          <a:xfrm>
            <a:off x="7178040" y="443484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20" name="TextBox 19"/>
          <p:cNvSpPr txBox="1"/>
          <p:nvPr/>
        </p:nvSpPr>
        <p:spPr>
          <a:xfrm>
            <a:off x="7863840" y="4416552"/>
            <a:ext cx="3794760" cy="365760"/>
          </a:xfrm>
          <a:prstGeom prst="rect">
            <a:avLst/>
          </a:prstGeom>
          <a:noFill/>
        </p:spPr>
        <p:txBody>
          <a:bodyPr wrap="square" lIns="0" rIns="0" tIns="0" bIns="0" anchor="t">
            <a:spAutoFit/>
          </a:bodyPr>
          <a:lstStyle/>
          <a:p>
            <a:pPr algn="l"/>
            <a:r>
              <a:rPr sz="1700" b="1" i="0">
                <a:solidFill>
                  <a:srgbClr val="14213D"/>
                </a:solidFill>
                <a:latin typeface="Calibri"/>
              </a:rPr>
              <a:t>Anti-aliased rendering</a:t>
            </a:r>
          </a:p>
        </p:txBody>
      </p:sp>
      <p:sp>
        <p:nvSpPr>
          <p:cNvPr id="21" name="TextBox 20"/>
          <p:cNvSpPr txBox="1"/>
          <p:nvPr/>
        </p:nvSpPr>
        <p:spPr>
          <a:xfrm>
            <a:off x="7863840" y="4818888"/>
            <a:ext cx="3794760" cy="822960"/>
          </a:xfrm>
          <a:prstGeom prst="rect">
            <a:avLst/>
          </a:prstGeom>
          <a:noFill/>
        </p:spPr>
        <p:txBody>
          <a:bodyPr wrap="square" lIns="0" rIns="0" tIns="0" bIns="0" anchor="t">
            <a:spAutoFit/>
          </a:bodyPr>
          <a:lstStyle/>
          <a:p>
            <a:pPr algn="l"/>
            <a:r>
              <a:rPr sz="1400" b="0" i="0">
                <a:solidFill>
                  <a:srgbClr val="465166"/>
                </a:solidFill>
                <a:latin typeface="Calibri"/>
              </a:rPr>
              <a:t>Drawn at 4× and downsampled, so a feed shift smaller than a pixel still changes the image.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LABELS AND SPLIT</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Labels come from simulated S11, fixed before training</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5 / 13</a:t>
            </a:r>
          </a:p>
        </p:txBody>
      </p:sp>
      <p:sp>
        <p:nvSpPr>
          <p:cNvPr id="6" name="TextBox 5"/>
          <p:cNvSpPr txBox="1"/>
          <p:nvPr/>
        </p:nvSpPr>
        <p:spPr>
          <a:xfrm>
            <a:off x="548640" y="1645920"/>
            <a:ext cx="2743200" cy="365760"/>
          </a:xfrm>
          <a:prstGeom prst="rect">
            <a:avLst/>
          </a:prstGeom>
          <a:noFill/>
        </p:spPr>
        <p:txBody>
          <a:bodyPr wrap="square" lIns="0" rIns="0" tIns="0" bIns="0" anchor="t">
            <a:spAutoFit/>
          </a:bodyPr>
          <a:lstStyle/>
          <a:p>
            <a:pPr algn="l"/>
            <a:r>
              <a:rPr sz="1600" b="1" i="0">
                <a:solidFill>
                  <a:srgbClr val="14213D"/>
                </a:solidFill>
                <a:latin typeface="Calibri"/>
              </a:rPr>
              <a:t>Matching class (main task)</a:t>
            </a:r>
          </a:p>
        </p:txBody>
      </p:sp>
      <p:sp>
        <p:nvSpPr>
          <p:cNvPr id="7" name="TextBox 6"/>
          <p:cNvSpPr txBox="1"/>
          <p:nvPr/>
        </p:nvSpPr>
        <p:spPr>
          <a:xfrm>
            <a:off x="548640" y="2011680"/>
            <a:ext cx="2743200" cy="548640"/>
          </a:xfrm>
          <a:prstGeom prst="rect">
            <a:avLst/>
          </a:prstGeom>
          <a:noFill/>
        </p:spPr>
        <p:txBody>
          <a:bodyPr wrap="square" lIns="0" rIns="0" tIns="0" bIns="0" anchor="t">
            <a:spAutoFit/>
          </a:bodyPr>
          <a:lstStyle/>
          <a:p>
            <a:pPr algn="l"/>
            <a:r>
              <a:rPr sz="1300" b="0" i="0">
                <a:solidFill>
                  <a:srgbClr val="6B7586"/>
                </a:solidFill>
                <a:latin typeface="Calibri"/>
              </a:rPr>
              <a:t>Lowest S11 over 1–10 GHz</a:t>
            </a:r>
          </a:p>
        </p:txBody>
      </p:sp>
      <p:sp>
        <p:nvSpPr>
          <p:cNvPr id="8" name="Rounded Rectangle 7"/>
          <p:cNvSpPr/>
          <p:nvPr/>
        </p:nvSpPr>
        <p:spPr>
          <a:xfrm>
            <a:off x="3429000" y="164592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19072"/>
            <a:ext cx="2194560" cy="768096"/>
          </a:xfrm>
          <a:prstGeom prst="rect">
            <a:avLst/>
          </a:prstGeom>
          <a:noFill/>
        </p:spPr>
        <p:txBody>
          <a:bodyPr wrap="square" lIns="0" rIns="0" tIns="0" bIns="0" anchor="ctr">
            <a:spAutoFit/>
          </a:bodyPr>
          <a:lstStyle/>
          <a:p>
            <a:pPr algn="l"/>
            <a:r>
              <a:rPr sz="1700" b="1" i="0">
                <a:solidFill>
                  <a:srgbClr val="14213D"/>
                </a:solidFill>
                <a:latin typeface="Calibri"/>
              </a:rPr>
              <a:t>Poor</a:t>
            </a:r>
          </a:p>
          <a:p>
            <a:pPr algn="l"/>
            <a:r>
              <a:rPr sz="1400" b="0" i="0">
                <a:solidFill>
                  <a:srgbClr val="465166"/>
                </a:solidFill>
                <a:latin typeface="Calibri"/>
              </a:rPr>
              <a:t>S11 above −10 dB</a:t>
            </a:r>
          </a:p>
        </p:txBody>
      </p:sp>
      <p:sp>
        <p:nvSpPr>
          <p:cNvPr id="10" name="Rounded Rectangle 9"/>
          <p:cNvSpPr/>
          <p:nvPr/>
        </p:nvSpPr>
        <p:spPr>
          <a:xfrm>
            <a:off x="6199631" y="164592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1719072"/>
            <a:ext cx="2194560" cy="768096"/>
          </a:xfrm>
          <a:prstGeom prst="rect">
            <a:avLst/>
          </a:prstGeom>
          <a:noFill/>
        </p:spPr>
        <p:txBody>
          <a:bodyPr wrap="square" lIns="0" rIns="0" tIns="0" bIns="0" anchor="ctr">
            <a:spAutoFit/>
          </a:bodyPr>
          <a:lstStyle/>
          <a:p>
            <a:pPr algn="l"/>
            <a:r>
              <a:rPr sz="1700" b="1" i="0">
                <a:solidFill>
                  <a:srgbClr val="14213D"/>
                </a:solidFill>
                <a:latin typeface="Calibri"/>
              </a:rPr>
              <a:t>Acceptable</a:t>
            </a:r>
          </a:p>
          <a:p>
            <a:pPr algn="l"/>
            <a:r>
              <a:rPr sz="1400" b="0" i="0">
                <a:solidFill>
                  <a:srgbClr val="465166"/>
                </a:solidFill>
                <a:latin typeface="Calibri"/>
              </a:rPr>
              <a:t>−20 to −10 dB</a:t>
            </a:r>
          </a:p>
        </p:txBody>
      </p:sp>
      <p:sp>
        <p:nvSpPr>
          <p:cNvPr id="12" name="Rounded Rectangle 11"/>
          <p:cNvSpPr/>
          <p:nvPr/>
        </p:nvSpPr>
        <p:spPr>
          <a:xfrm>
            <a:off x="8970263" y="164592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98863" y="1719072"/>
            <a:ext cx="2194560" cy="768096"/>
          </a:xfrm>
          <a:prstGeom prst="rect">
            <a:avLst/>
          </a:prstGeom>
          <a:noFill/>
        </p:spPr>
        <p:txBody>
          <a:bodyPr wrap="square" lIns="0" rIns="0" tIns="0" bIns="0" anchor="ctr">
            <a:spAutoFit/>
          </a:bodyPr>
          <a:lstStyle/>
          <a:p>
            <a:pPr algn="l"/>
            <a:r>
              <a:rPr sz="1700" b="1" i="0">
                <a:solidFill>
                  <a:srgbClr val="14213D"/>
                </a:solidFill>
                <a:latin typeface="Calibri"/>
              </a:rPr>
              <a:t>High</a:t>
            </a:r>
          </a:p>
          <a:p>
            <a:pPr algn="l"/>
            <a:r>
              <a:rPr sz="1400" b="0" i="0">
                <a:solidFill>
                  <a:srgbClr val="465166"/>
                </a:solidFill>
                <a:latin typeface="Calibri"/>
              </a:rPr>
              <a:t>S11 ≤ −20 dB</a:t>
            </a:r>
          </a:p>
        </p:txBody>
      </p:sp>
      <p:sp>
        <p:nvSpPr>
          <p:cNvPr id="14" name="TextBox 13"/>
          <p:cNvSpPr txBox="1"/>
          <p:nvPr/>
        </p:nvSpPr>
        <p:spPr>
          <a:xfrm>
            <a:off x="548640" y="2880360"/>
            <a:ext cx="2743200" cy="365760"/>
          </a:xfrm>
          <a:prstGeom prst="rect">
            <a:avLst/>
          </a:prstGeom>
          <a:noFill/>
        </p:spPr>
        <p:txBody>
          <a:bodyPr wrap="square" lIns="0" rIns="0" tIns="0" bIns="0" anchor="t">
            <a:spAutoFit/>
          </a:bodyPr>
          <a:lstStyle/>
          <a:p>
            <a:pPr algn="l"/>
            <a:r>
              <a:rPr sz="1600" b="1" i="0">
                <a:solidFill>
                  <a:srgbClr val="14213D"/>
                </a:solidFill>
                <a:latin typeface="Calibri"/>
              </a:rPr>
              <a:t>Band class</a:t>
            </a:r>
          </a:p>
        </p:txBody>
      </p:sp>
      <p:sp>
        <p:nvSpPr>
          <p:cNvPr id="15" name="TextBox 14"/>
          <p:cNvSpPr txBox="1"/>
          <p:nvPr/>
        </p:nvSpPr>
        <p:spPr>
          <a:xfrm>
            <a:off x="548640" y="3246120"/>
            <a:ext cx="2743200" cy="548640"/>
          </a:xfrm>
          <a:prstGeom prst="rect">
            <a:avLst/>
          </a:prstGeom>
          <a:noFill/>
        </p:spPr>
        <p:txBody>
          <a:bodyPr wrap="square" lIns="0" rIns="0" tIns="0" bIns="0" anchor="t">
            <a:spAutoFit/>
          </a:bodyPr>
          <a:lstStyle/>
          <a:p>
            <a:pPr algn="l"/>
            <a:r>
              <a:rPr sz="1300" b="0" i="0">
                <a:solidFill>
                  <a:srgbClr val="6B7586"/>
                </a:solidFill>
                <a:latin typeface="Calibri"/>
              </a:rPr>
              <a:t>First matched resonance</a:t>
            </a:r>
          </a:p>
        </p:txBody>
      </p:sp>
      <p:sp>
        <p:nvSpPr>
          <p:cNvPr id="16" name="Rounded Rectangle 15"/>
          <p:cNvSpPr/>
          <p:nvPr/>
        </p:nvSpPr>
        <p:spPr>
          <a:xfrm>
            <a:off x="3429000" y="288036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2953512"/>
            <a:ext cx="2194560" cy="768096"/>
          </a:xfrm>
          <a:prstGeom prst="rect">
            <a:avLst/>
          </a:prstGeom>
          <a:noFill/>
        </p:spPr>
        <p:txBody>
          <a:bodyPr wrap="square" lIns="0" rIns="0" tIns="0" bIns="0" anchor="ctr">
            <a:spAutoFit/>
          </a:bodyPr>
          <a:lstStyle/>
          <a:p>
            <a:pPr algn="l"/>
            <a:r>
              <a:rPr sz="1700" b="1" i="0">
                <a:solidFill>
                  <a:srgbClr val="14213D"/>
                </a:solidFill>
                <a:latin typeface="Calibri"/>
              </a:rPr>
              <a:t>Below 5 GHz</a:t>
            </a:r>
          </a:p>
          <a:p>
            <a:pPr algn="l"/>
            <a:r>
              <a:rPr sz="1400" b="0" i="0">
                <a:solidFill>
                  <a:srgbClr val="465166"/>
                </a:solidFill>
                <a:latin typeface="Calibri"/>
              </a:rPr>
              <a:t>FR1, covers n77–n79</a:t>
            </a:r>
          </a:p>
        </p:txBody>
      </p:sp>
      <p:sp>
        <p:nvSpPr>
          <p:cNvPr id="18" name="Rounded Rectangle 17"/>
          <p:cNvSpPr/>
          <p:nvPr/>
        </p:nvSpPr>
        <p:spPr>
          <a:xfrm>
            <a:off x="6199631" y="288036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2953512"/>
            <a:ext cx="2194560" cy="768096"/>
          </a:xfrm>
          <a:prstGeom prst="rect">
            <a:avLst/>
          </a:prstGeom>
          <a:noFill/>
        </p:spPr>
        <p:txBody>
          <a:bodyPr wrap="square" lIns="0" rIns="0" tIns="0" bIns="0" anchor="ctr">
            <a:spAutoFit/>
          </a:bodyPr>
          <a:lstStyle/>
          <a:p>
            <a:pPr algn="l"/>
            <a:r>
              <a:rPr sz="1700" b="1" i="0">
                <a:solidFill>
                  <a:srgbClr val="14213D"/>
                </a:solidFill>
                <a:latin typeface="Calibri"/>
              </a:rPr>
              <a:t>5 – 7.125 GHz</a:t>
            </a:r>
          </a:p>
          <a:p>
            <a:pPr algn="l"/>
            <a:r>
              <a:rPr sz="1400" b="0" i="0">
                <a:solidFill>
                  <a:srgbClr val="465166"/>
                </a:solidFill>
                <a:latin typeface="Calibri"/>
              </a:rPr>
              <a:t>Upper FR1</a:t>
            </a:r>
          </a:p>
        </p:txBody>
      </p:sp>
      <p:sp>
        <p:nvSpPr>
          <p:cNvPr id="20" name="Rounded Rectangle 19"/>
          <p:cNvSpPr/>
          <p:nvPr/>
        </p:nvSpPr>
        <p:spPr>
          <a:xfrm>
            <a:off x="8970263" y="2880360"/>
            <a:ext cx="2651760" cy="9144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863" y="2953512"/>
            <a:ext cx="2194560" cy="768096"/>
          </a:xfrm>
          <a:prstGeom prst="rect">
            <a:avLst/>
          </a:prstGeom>
          <a:noFill/>
        </p:spPr>
        <p:txBody>
          <a:bodyPr wrap="square" lIns="0" rIns="0" tIns="0" bIns="0" anchor="ctr">
            <a:spAutoFit/>
          </a:bodyPr>
          <a:lstStyle/>
          <a:p>
            <a:pPr algn="l"/>
            <a:r>
              <a:rPr sz="1700" b="1" i="0">
                <a:solidFill>
                  <a:srgbClr val="14213D"/>
                </a:solidFill>
                <a:latin typeface="Calibri"/>
              </a:rPr>
              <a:t>7.125 GHz and above</a:t>
            </a:r>
          </a:p>
          <a:p>
            <a:pPr algn="l"/>
            <a:r>
              <a:rPr sz="1400" b="0" i="0">
                <a:solidFill>
                  <a:srgbClr val="465166"/>
                </a:solidFill>
                <a:latin typeface="Calibri"/>
              </a:rPr>
              <a:t>FR3, 6G candidate</a:t>
            </a:r>
          </a:p>
        </p:txBody>
      </p:sp>
      <p:sp>
        <p:nvSpPr>
          <p:cNvPr id="22" name="TextBox 21"/>
          <p:cNvSpPr txBox="1"/>
          <p:nvPr/>
        </p:nvSpPr>
        <p:spPr>
          <a:xfrm>
            <a:off x="548640" y="4160520"/>
            <a:ext cx="10972800" cy="365760"/>
          </a:xfrm>
          <a:prstGeom prst="rect">
            <a:avLst/>
          </a:prstGeom>
          <a:noFill/>
        </p:spPr>
        <p:txBody>
          <a:bodyPr wrap="square" lIns="0" rIns="0" tIns="0" bIns="0" anchor="t">
            <a:spAutoFit/>
          </a:bodyPr>
          <a:lstStyle/>
          <a:p>
            <a:pPr algn="l"/>
            <a:r>
              <a:rPr sz="1600" b="1" i="0">
                <a:solidFill>
                  <a:srgbClr val="14213D"/>
                </a:solidFill>
                <a:latin typeface="Calibri"/>
              </a:rPr>
              <a:t>Design-level split, stratified 70 / 15 / 15, seed 42</a:t>
            </a:r>
          </a:p>
        </p:txBody>
      </p:sp>
      <p:sp>
        <p:nvSpPr>
          <p:cNvPr id="23" name="TextBox 22"/>
          <p:cNvSpPr txBox="1"/>
          <p:nvPr/>
        </p:nvSpPr>
        <p:spPr>
          <a:xfrm>
            <a:off x="548640" y="4572000"/>
            <a:ext cx="2651760" cy="731520"/>
          </a:xfrm>
          <a:prstGeom prst="rect">
            <a:avLst/>
          </a:prstGeom>
          <a:noFill/>
        </p:spPr>
        <p:txBody>
          <a:bodyPr wrap="square" lIns="0" rIns="0" tIns="0" bIns="0" anchor="t">
            <a:spAutoFit/>
          </a:bodyPr>
          <a:lstStyle/>
          <a:p>
            <a:pPr algn="l"/>
            <a:r>
              <a:rPr sz="4000" b="1" i="0">
                <a:solidFill>
                  <a:srgbClr val="9A5A1F"/>
                </a:solidFill>
                <a:latin typeface="Cambria"/>
              </a:rPr>
              <a:t>1,220</a:t>
            </a:r>
          </a:p>
        </p:txBody>
      </p:sp>
      <p:sp>
        <p:nvSpPr>
          <p:cNvPr id="24" name="TextBox 23"/>
          <p:cNvSpPr txBox="1"/>
          <p:nvPr/>
        </p:nvSpPr>
        <p:spPr>
          <a:xfrm>
            <a:off x="548640" y="5349240"/>
            <a:ext cx="2651760" cy="365760"/>
          </a:xfrm>
          <a:prstGeom prst="rect">
            <a:avLst/>
          </a:prstGeom>
          <a:noFill/>
        </p:spPr>
        <p:txBody>
          <a:bodyPr wrap="square" lIns="0" rIns="0" tIns="0" bIns="0" anchor="t">
            <a:spAutoFit/>
          </a:bodyPr>
          <a:lstStyle/>
          <a:p>
            <a:pPr algn="l"/>
            <a:r>
              <a:rPr sz="1400" b="0" i="0">
                <a:solidFill>
                  <a:srgbClr val="465166"/>
                </a:solidFill>
                <a:latin typeface="Calibri"/>
              </a:rPr>
              <a:t>train</a:t>
            </a:r>
          </a:p>
        </p:txBody>
      </p:sp>
      <p:sp>
        <p:nvSpPr>
          <p:cNvPr id="25" name="TextBox 24"/>
          <p:cNvSpPr txBox="1"/>
          <p:nvPr/>
        </p:nvSpPr>
        <p:spPr>
          <a:xfrm>
            <a:off x="3364992" y="4572000"/>
            <a:ext cx="2651760" cy="731520"/>
          </a:xfrm>
          <a:prstGeom prst="rect">
            <a:avLst/>
          </a:prstGeom>
          <a:noFill/>
        </p:spPr>
        <p:txBody>
          <a:bodyPr wrap="square" lIns="0" rIns="0" tIns="0" bIns="0" anchor="t">
            <a:spAutoFit/>
          </a:bodyPr>
          <a:lstStyle/>
          <a:p>
            <a:pPr algn="l"/>
            <a:r>
              <a:rPr sz="4000" b="1" i="0">
                <a:solidFill>
                  <a:srgbClr val="9A5A1F"/>
                </a:solidFill>
                <a:latin typeface="Cambria"/>
              </a:rPr>
              <a:t>262</a:t>
            </a:r>
          </a:p>
        </p:txBody>
      </p:sp>
      <p:sp>
        <p:nvSpPr>
          <p:cNvPr id="26" name="TextBox 25"/>
          <p:cNvSpPr txBox="1"/>
          <p:nvPr/>
        </p:nvSpPr>
        <p:spPr>
          <a:xfrm>
            <a:off x="3364992" y="5349240"/>
            <a:ext cx="2651760" cy="365760"/>
          </a:xfrm>
          <a:prstGeom prst="rect">
            <a:avLst/>
          </a:prstGeom>
          <a:noFill/>
        </p:spPr>
        <p:txBody>
          <a:bodyPr wrap="square" lIns="0" rIns="0" tIns="0" bIns="0" anchor="t">
            <a:spAutoFit/>
          </a:bodyPr>
          <a:lstStyle/>
          <a:p>
            <a:pPr algn="l"/>
            <a:r>
              <a:rPr sz="1400" b="0" i="0">
                <a:solidFill>
                  <a:srgbClr val="465166"/>
                </a:solidFill>
                <a:latin typeface="Calibri"/>
              </a:rPr>
              <a:t>validation</a:t>
            </a:r>
          </a:p>
        </p:txBody>
      </p:sp>
      <p:sp>
        <p:nvSpPr>
          <p:cNvPr id="27" name="TextBox 26"/>
          <p:cNvSpPr txBox="1"/>
          <p:nvPr/>
        </p:nvSpPr>
        <p:spPr>
          <a:xfrm>
            <a:off x="6181344" y="4572000"/>
            <a:ext cx="2651760" cy="731520"/>
          </a:xfrm>
          <a:prstGeom prst="rect">
            <a:avLst/>
          </a:prstGeom>
          <a:noFill/>
        </p:spPr>
        <p:txBody>
          <a:bodyPr wrap="square" lIns="0" rIns="0" tIns="0" bIns="0" anchor="t">
            <a:spAutoFit/>
          </a:bodyPr>
          <a:lstStyle/>
          <a:p>
            <a:pPr algn="l"/>
            <a:r>
              <a:rPr sz="4000" b="1" i="0">
                <a:solidFill>
                  <a:srgbClr val="9A5A1F"/>
                </a:solidFill>
                <a:latin typeface="Cambria"/>
              </a:rPr>
              <a:t>262</a:t>
            </a:r>
          </a:p>
        </p:txBody>
      </p:sp>
      <p:sp>
        <p:nvSpPr>
          <p:cNvPr id="28" name="TextBox 27"/>
          <p:cNvSpPr txBox="1"/>
          <p:nvPr/>
        </p:nvSpPr>
        <p:spPr>
          <a:xfrm>
            <a:off x="6181344" y="5349240"/>
            <a:ext cx="2651760" cy="365760"/>
          </a:xfrm>
          <a:prstGeom prst="rect">
            <a:avLst/>
          </a:prstGeom>
          <a:noFill/>
        </p:spPr>
        <p:txBody>
          <a:bodyPr wrap="square" lIns="0" rIns="0" tIns="0" bIns="0" anchor="t">
            <a:spAutoFit/>
          </a:bodyPr>
          <a:lstStyle/>
          <a:p>
            <a:pPr algn="l"/>
            <a:r>
              <a:rPr sz="1400" b="0" i="0">
                <a:solidFill>
                  <a:srgbClr val="465166"/>
                </a:solidFill>
                <a:latin typeface="Calibri"/>
              </a:rPr>
              <a:t>test (locked)</a:t>
            </a:r>
          </a:p>
        </p:txBody>
      </p:sp>
      <p:sp>
        <p:nvSpPr>
          <p:cNvPr id="29" name="TextBox 28"/>
          <p:cNvSpPr txBox="1"/>
          <p:nvPr/>
        </p:nvSpPr>
        <p:spPr>
          <a:xfrm>
            <a:off x="8997696" y="4572000"/>
            <a:ext cx="2651760" cy="731520"/>
          </a:xfrm>
          <a:prstGeom prst="rect">
            <a:avLst/>
          </a:prstGeom>
          <a:noFill/>
        </p:spPr>
        <p:txBody>
          <a:bodyPr wrap="square" lIns="0" rIns="0" tIns="0" bIns="0" anchor="t">
            <a:spAutoFit/>
          </a:bodyPr>
          <a:lstStyle/>
          <a:p>
            <a:pPr algn="l"/>
            <a:r>
              <a:rPr sz="4000" b="1" i="0">
                <a:solidFill>
                  <a:srgbClr val="9A5A1F"/>
                </a:solidFill>
                <a:latin typeface="Cambria"/>
              </a:rPr>
              <a:t>307</a:t>
            </a:r>
          </a:p>
        </p:txBody>
      </p:sp>
      <p:sp>
        <p:nvSpPr>
          <p:cNvPr id="30" name="TextBox 29"/>
          <p:cNvSpPr txBox="1"/>
          <p:nvPr/>
        </p:nvSpPr>
        <p:spPr>
          <a:xfrm>
            <a:off x="8997696" y="5349240"/>
            <a:ext cx="2651760" cy="365760"/>
          </a:xfrm>
          <a:prstGeom prst="rect">
            <a:avLst/>
          </a:prstGeom>
          <a:noFill/>
        </p:spPr>
        <p:txBody>
          <a:bodyPr wrap="square" lIns="0" rIns="0" tIns="0" bIns="0" anchor="t">
            <a:spAutoFit/>
          </a:bodyPr>
          <a:lstStyle/>
          <a:p>
            <a:pPr algn="l"/>
            <a:r>
              <a:rPr sz="1400" b="0" i="0">
                <a:solidFill>
                  <a:srgbClr val="465166"/>
                </a:solidFill>
                <a:latin typeface="Calibri"/>
              </a:rPr>
              <a:t>OOD hold-out, W/L &gt; 1.95</a:t>
            </a:r>
          </a:p>
        </p:txBody>
      </p:sp>
      <p:sp>
        <p:nvSpPr>
          <p:cNvPr id="31" name="TextBox 30"/>
          <p:cNvSpPr txBox="1"/>
          <p:nvPr/>
        </p:nvSpPr>
        <p:spPr>
          <a:xfrm>
            <a:off x="548640" y="5852160"/>
            <a:ext cx="10972800" cy="320040"/>
          </a:xfrm>
          <a:prstGeom prst="rect">
            <a:avLst/>
          </a:prstGeom>
          <a:noFill/>
        </p:spPr>
        <p:txBody>
          <a:bodyPr wrap="square" lIns="0" rIns="0" tIns="0" bIns="0" anchor="t">
            <a:spAutoFit/>
          </a:bodyPr>
          <a:lstStyle/>
          <a:p>
            <a:pPr algn="l"/>
            <a:r>
              <a:rPr sz="1200" b="0" i="1">
                <a:solidFill>
                  <a:srgbClr val="6B7586"/>
                </a:solidFill>
                <a:latin typeface="Calibri"/>
              </a:rPr>
              <a:t>The −20 dB boundary is a project assumption and needs engineering confirmation.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MODELS</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Four models, same data, same split</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6 / 13</a:t>
            </a:r>
          </a:p>
        </p:txBody>
      </p:sp>
      <p:graphicFrame>
        <p:nvGraphicFramePr>
          <p:cNvPr id="6" name="Table 5"/>
          <p:cNvGraphicFramePr>
            <a:graphicFrameLocks noGrp="1"/>
          </p:cNvGraphicFramePr>
          <p:nvPr/>
        </p:nvGraphicFramePr>
        <p:xfrm>
          <a:off x="548640" y="1691640"/>
          <a:ext cx="6766560" cy="2834640"/>
        </p:xfrm>
        <a:graphic>
          <a:graphicData uri="http://schemas.openxmlformats.org/drawingml/2006/table">
            <a:tbl>
              <a:tblPr firstRow="1" bandRow="1">
                <a:tableStyleId>{5C22544A-7EE6-4342-B048-85BDC9FD1C3A}</a:tableStyleId>
              </a:tblPr>
              <a:tblGrid>
                <a:gridCol w="1783080"/>
                <a:gridCol w="3520440"/>
                <a:gridCol w="1463040"/>
              </a:tblGrid>
              <a:tr h="566928">
                <a:tc>
                  <a:txBody>
                    <a:bodyPr/>
                    <a:lstStyle/>
                    <a:p>
                      <a:pPr algn="l"/>
                      <a:r>
                        <a:rPr sz="1400" b="1">
                          <a:solidFill>
                            <a:srgbClr val="FFFFFF"/>
                          </a:solidFill>
                          <a:latin typeface="Calibri"/>
                        </a:rPr>
                        <a:t>Model</a:t>
                      </a:r>
                    </a:p>
                  </a:txBody>
                  <a:tcPr marL="109728" marR="109728" marT="45720" marB="45720" anchor="ctr">
                    <a:solidFill>
                      <a:srgbClr val="14213D"/>
                    </a:solidFill>
                  </a:tcPr>
                </a:tc>
                <a:tc>
                  <a:txBody>
                    <a:bodyPr/>
                    <a:lstStyle/>
                    <a:p>
                      <a:pPr algn="l"/>
                      <a:r>
                        <a:rPr sz="1400" b="1">
                          <a:solidFill>
                            <a:srgbClr val="FFFFFF"/>
                          </a:solidFill>
                          <a:latin typeface="Calibri"/>
                        </a:rPr>
                        <a:t>What it is</a:t>
                      </a:r>
                    </a:p>
                  </a:txBody>
                  <a:tcPr marL="109728" marR="109728" marT="45720" marB="45720" anchor="ctr">
                    <a:solidFill>
                      <a:srgbClr val="14213D"/>
                    </a:solidFill>
                  </a:tcPr>
                </a:tc>
                <a:tc>
                  <a:txBody>
                    <a:bodyPr/>
                    <a:lstStyle/>
                    <a:p>
                      <a:pPr algn="l"/>
                      <a:r>
                        <a:rPr sz="1400" b="1">
                          <a:solidFill>
                            <a:srgbClr val="FFFFFF"/>
                          </a:solidFill>
                          <a:latin typeface="Calibri"/>
                        </a:rPr>
                        <a:t>Trainable params</a:t>
                      </a:r>
                    </a:p>
                  </a:txBody>
                  <a:tcPr marL="109728" marR="109728" marT="45720" marB="45720" anchor="ctr">
                    <a:solidFill>
                      <a:srgbClr val="14213D"/>
                    </a:solidFill>
                  </a:tcPr>
                </a:tc>
              </a:tr>
              <a:tr h="566928">
                <a:tc>
                  <a:txBody>
                    <a:bodyPr/>
                    <a:lstStyle/>
                    <a:p>
                      <a:pPr algn="l"/>
                      <a:r>
                        <a:rPr sz="1400" b="1" i="0">
                          <a:solidFill>
                            <a:srgbClr val="1F2A44"/>
                          </a:solidFill>
                          <a:latin typeface="Calibri"/>
                        </a:rPr>
                        <a:t>Majority baseline</a:t>
                      </a:r>
                    </a:p>
                  </a:txBody>
                  <a:tcPr marL="109728" marR="109728" marT="45720" marB="45720" anchor="ctr">
                    <a:solidFill>
                      <a:srgbClr val="FFFFFF"/>
                    </a:solidFill>
                  </a:tcPr>
                </a:tc>
                <a:tc>
                  <a:txBody>
                    <a:bodyPr/>
                    <a:lstStyle/>
                    <a:p>
                      <a:pPr algn="l"/>
                      <a:r>
                        <a:rPr sz="1400" b="0" i="0">
                          <a:solidFill>
                            <a:srgbClr val="1F2A44"/>
                          </a:solidFill>
                          <a:latin typeface="Calibri"/>
                        </a:rPr>
                        <a:t>Always predicts the most common class</a:t>
                      </a:r>
                    </a:p>
                  </a:txBody>
                  <a:tcPr marL="109728" marR="109728" marT="45720" marB="45720" anchor="ctr">
                    <a:solidFill>
                      <a:srgbClr val="FFFFFF"/>
                    </a:solidFill>
                  </a:tcPr>
                </a:tc>
                <a:tc>
                  <a:txBody>
                    <a:bodyPr/>
                    <a:lstStyle/>
                    <a:p>
                      <a:pPr algn="r"/>
                      <a:r>
                        <a:rPr sz="1400" b="0" i="0">
                          <a:solidFill>
                            <a:srgbClr val="1F2A44"/>
                          </a:solidFill>
                          <a:latin typeface="Calibri"/>
                        </a:rPr>
                        <a:t>0</a:t>
                      </a:r>
                    </a:p>
                  </a:txBody>
                  <a:tcPr marL="109728" marR="109728" marT="45720" marB="45720" anchor="ctr">
                    <a:solidFill>
                      <a:srgbClr val="FFFFFF"/>
                    </a:solidFill>
                  </a:tcPr>
                </a:tc>
              </a:tr>
              <a:tr h="566928">
                <a:tc>
                  <a:txBody>
                    <a:bodyPr/>
                    <a:lstStyle/>
                    <a:p>
                      <a:pPr algn="l"/>
                      <a:r>
                        <a:rPr sz="1400" b="1" i="0">
                          <a:solidFill>
                            <a:srgbClr val="1F2A44"/>
                          </a:solidFill>
                          <a:latin typeface="Calibri"/>
                        </a:rPr>
                        <a:t>Compact CNN</a:t>
                      </a:r>
                    </a:p>
                  </a:txBody>
                  <a:tcPr marL="109728" marR="109728" marT="45720" marB="45720" anchor="ctr">
                    <a:solidFill>
                      <a:srgbClr val="F1F3F7"/>
                    </a:solidFill>
                  </a:tcPr>
                </a:tc>
                <a:tc>
                  <a:txBody>
                    <a:bodyPr/>
                    <a:lstStyle/>
                    <a:p>
                      <a:pPr algn="l"/>
                      <a:r>
                        <a:rPr sz="1400" b="0" i="0">
                          <a:solidFill>
                            <a:srgbClr val="1F2A44"/>
                          </a:solidFill>
                          <a:latin typeface="Calibri"/>
                        </a:rPr>
                        <a:t>Small convolutional net, trained from scratch</a:t>
                      </a:r>
                    </a:p>
                  </a:txBody>
                  <a:tcPr marL="109728" marR="109728" marT="45720" marB="45720" anchor="ctr">
                    <a:solidFill>
                      <a:srgbClr val="F1F3F7"/>
                    </a:solidFill>
                  </a:tcPr>
                </a:tc>
                <a:tc>
                  <a:txBody>
                    <a:bodyPr/>
                    <a:lstStyle/>
                    <a:p>
                      <a:pPr algn="r"/>
                      <a:r>
                        <a:rPr sz="1400" b="0" i="0">
                          <a:solidFill>
                            <a:srgbClr val="1F2A44"/>
                          </a:solidFill>
                          <a:latin typeface="Calibri"/>
                        </a:rPr>
                        <a:t>0.25 M</a:t>
                      </a:r>
                    </a:p>
                  </a:txBody>
                  <a:tcPr marL="109728" marR="109728" marT="45720" marB="45720" anchor="ctr">
                    <a:solidFill>
                      <a:srgbClr val="F1F3F7"/>
                    </a:solidFill>
                  </a:tcPr>
                </a:tc>
              </a:tr>
              <a:tr h="566928">
                <a:tc>
                  <a:txBody>
                    <a:bodyPr/>
                    <a:lstStyle/>
                    <a:p>
                      <a:pPr algn="l"/>
                      <a:r>
                        <a:rPr sz="1400" b="1" i="0">
                          <a:solidFill>
                            <a:srgbClr val="1F2A44"/>
                          </a:solidFill>
                          <a:latin typeface="Calibri"/>
                        </a:rPr>
                        <a:t>ViT linear probe</a:t>
                      </a:r>
                    </a:p>
                  </a:txBody>
                  <a:tcPr marL="109728" marR="109728" marT="45720" marB="45720" anchor="ctr">
                    <a:solidFill>
                      <a:srgbClr val="FFFFFF"/>
                    </a:solidFill>
                  </a:tcPr>
                </a:tc>
                <a:tc>
                  <a:txBody>
                    <a:bodyPr/>
                    <a:lstStyle/>
                    <a:p>
                      <a:pPr algn="l"/>
                      <a:r>
                        <a:rPr sz="1400" b="0" i="0">
                          <a:solidFill>
                            <a:srgbClr val="1F2A44"/>
                          </a:solidFill>
                          <a:latin typeface="Calibri"/>
                        </a:rPr>
                        <a:t>Frozen pretrained ViT + one linear layer</a:t>
                      </a:r>
                    </a:p>
                  </a:txBody>
                  <a:tcPr marL="109728" marR="109728" marT="45720" marB="45720" anchor="ctr">
                    <a:solidFill>
                      <a:srgbClr val="FFFFFF"/>
                    </a:solidFill>
                  </a:tcPr>
                </a:tc>
                <a:tc>
                  <a:txBody>
                    <a:bodyPr/>
                    <a:lstStyle/>
                    <a:p>
                      <a:pPr algn="r"/>
                      <a:r>
                        <a:rPr sz="1400" b="0" i="0">
                          <a:solidFill>
                            <a:srgbClr val="1F2A44"/>
                          </a:solidFill>
                          <a:latin typeface="Calibri"/>
                        </a:rPr>
                        <a:t>1,155</a:t>
                      </a:r>
                    </a:p>
                  </a:txBody>
                  <a:tcPr marL="109728" marR="109728" marT="45720" marB="45720" anchor="ctr">
                    <a:solidFill>
                      <a:srgbClr val="FFFFFF"/>
                    </a:solidFill>
                  </a:tcPr>
                </a:tc>
              </a:tr>
              <a:tr h="566928">
                <a:tc>
                  <a:txBody>
                    <a:bodyPr/>
                    <a:lstStyle/>
                    <a:p>
                      <a:pPr algn="l"/>
                      <a:r>
                        <a:rPr sz="1400" b="1" i="0">
                          <a:solidFill>
                            <a:srgbClr val="1F2A44"/>
                          </a:solidFill>
                          <a:latin typeface="Calibri"/>
                        </a:rPr>
                        <a:t>ViT fine-tuned</a:t>
                      </a:r>
                    </a:p>
                  </a:txBody>
                  <a:tcPr marL="109728" marR="109728" marT="45720" marB="45720" anchor="ctr">
                    <a:solidFill>
                      <a:srgbClr val="F1F3F7"/>
                    </a:solidFill>
                  </a:tcPr>
                </a:tc>
                <a:tc>
                  <a:txBody>
                    <a:bodyPr/>
                    <a:lstStyle/>
                    <a:p>
                      <a:pPr algn="l"/>
                      <a:r>
                        <a:rPr sz="1400" b="0" i="0">
                          <a:solidFill>
                            <a:srgbClr val="1F2A44"/>
                          </a:solidFill>
                          <a:latin typeface="Calibri"/>
                        </a:rPr>
                        <a:t>Head + last 4 of 12 blocks trained</a:t>
                      </a:r>
                    </a:p>
                  </a:txBody>
                  <a:tcPr marL="109728" marR="109728" marT="45720" marB="45720" anchor="ctr">
                    <a:solidFill>
                      <a:srgbClr val="F1F3F7"/>
                    </a:solidFill>
                  </a:tcPr>
                </a:tc>
                <a:tc>
                  <a:txBody>
                    <a:bodyPr/>
                    <a:lstStyle/>
                    <a:p>
                      <a:pPr algn="r"/>
                      <a:r>
                        <a:rPr sz="1400" b="0" i="0">
                          <a:solidFill>
                            <a:srgbClr val="1F2A44"/>
                          </a:solidFill>
                          <a:latin typeface="Calibri"/>
                        </a:rPr>
                        <a:t>7.1 M</a:t>
                      </a:r>
                    </a:p>
                  </a:txBody>
                  <a:tcPr marL="109728" marR="109728" marT="45720" marB="45720" anchor="ctr">
                    <a:solidFill>
                      <a:srgbClr val="F1F3F7"/>
                    </a:solidFill>
                  </a:tcPr>
                </a:tc>
              </a:tr>
            </a:tbl>
          </a:graphicData>
        </a:graphic>
      </p:graphicFrame>
      <p:sp>
        <p:nvSpPr>
          <p:cNvPr id="7" name="Rounded Rectangle 6"/>
          <p:cNvSpPr/>
          <p:nvPr/>
        </p:nvSpPr>
        <p:spPr>
          <a:xfrm>
            <a:off x="7680960" y="1691640"/>
            <a:ext cx="3959352" cy="342900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920240"/>
            <a:ext cx="3474720" cy="365760"/>
          </a:xfrm>
          <a:prstGeom prst="rect">
            <a:avLst/>
          </a:prstGeom>
          <a:noFill/>
        </p:spPr>
        <p:txBody>
          <a:bodyPr wrap="square" lIns="0" rIns="0" tIns="0" bIns="0" anchor="t">
            <a:spAutoFit/>
          </a:bodyPr>
          <a:lstStyle/>
          <a:p>
            <a:pPr algn="l"/>
            <a:r>
              <a:rPr sz="1800" b="1" i="0">
                <a:solidFill>
                  <a:srgbClr val="14213D"/>
                </a:solidFill>
                <a:latin typeface="Calibri"/>
              </a:rPr>
              <a:t>ViT-S/16 training recipe</a:t>
            </a:r>
          </a:p>
        </p:txBody>
      </p:sp>
      <p:sp>
        <p:nvSpPr>
          <p:cNvPr id="9" name="TextBox 8"/>
          <p:cNvSpPr txBox="1"/>
          <p:nvPr/>
        </p:nvSpPr>
        <p:spPr>
          <a:xfrm>
            <a:off x="7955279" y="2423160"/>
            <a:ext cx="3520440" cy="2651760"/>
          </a:xfrm>
          <a:prstGeom prst="rect">
            <a:avLst/>
          </a:prstGeom>
          <a:noFill/>
        </p:spPr>
        <p:txBody>
          <a:bodyPr wrap="square" lIns="0" rIns="0" tIns="0" bIns="0" anchor="t">
            <a:spAutoFit/>
          </a:bodyPr>
          <a:lstStyle/>
          <a:p>
            <a:pPr algn="l">
              <a:spcAft>
                <a:spcPts val="700"/>
              </a:spcAft>
            </a:pPr>
            <a:r>
              <a:rPr sz="1400" b="1" i="0">
                <a:solidFill>
                  <a:srgbClr val="1F2A44"/>
                </a:solidFill>
                <a:latin typeface="Calibri"/>
              </a:rPr>
              <a:t>Backbone  </a:t>
            </a:r>
            <a:r>
              <a:rPr sz="1400" b="0" i="0">
                <a:solidFill>
                  <a:srgbClr val="465166"/>
                </a:solidFill>
                <a:latin typeface="Calibri"/>
              </a:rPr>
              <a:t>ImageNet-21k pretrained, 16×16 px patches</a:t>
            </a:r>
          </a:p>
          <a:p>
            <a:pPr algn="l">
              <a:spcAft>
                <a:spcPts val="700"/>
              </a:spcAft>
            </a:pPr>
            <a:r>
              <a:rPr sz="1400" b="1" i="0">
                <a:solidFill>
                  <a:srgbClr val="1F2A44"/>
                </a:solidFill>
                <a:latin typeface="Calibri"/>
              </a:rPr>
              <a:t>Stage A  </a:t>
            </a:r>
            <a:r>
              <a:rPr sz="1400" b="0" i="0">
                <a:solidFill>
                  <a:srgbClr val="465166"/>
                </a:solidFill>
                <a:latin typeface="Calibri"/>
              </a:rPr>
              <a:t>2 epochs, head only, lr 1e-3</a:t>
            </a:r>
          </a:p>
          <a:p>
            <a:pPr algn="l">
              <a:spcAft>
                <a:spcPts val="700"/>
              </a:spcAft>
            </a:pPr>
            <a:r>
              <a:rPr sz="1400" b="1" i="0">
                <a:solidFill>
                  <a:srgbClr val="1F2A44"/>
                </a:solidFill>
                <a:latin typeface="Calibri"/>
              </a:rPr>
              <a:t>Stage B  </a:t>
            </a:r>
            <a:r>
              <a:rPr sz="1400" b="0" i="0">
                <a:solidFill>
                  <a:srgbClr val="465166"/>
                </a:solidFill>
                <a:latin typeface="Calibri"/>
              </a:rPr>
              <a:t>≤10 epochs, +4 blocks, lr 3e-5</a:t>
            </a:r>
          </a:p>
          <a:p>
            <a:pPr algn="l">
              <a:spcAft>
                <a:spcPts val="700"/>
              </a:spcAft>
            </a:pPr>
            <a:r>
              <a:rPr sz="1400" b="1" i="0">
                <a:solidFill>
                  <a:srgbClr val="1F2A44"/>
                </a:solidFill>
                <a:latin typeface="Calibri"/>
              </a:rPr>
              <a:t>Early stop  </a:t>
            </a:r>
            <a:r>
              <a:rPr sz="1400" b="0" i="0">
                <a:solidFill>
                  <a:srgbClr val="465166"/>
                </a:solidFill>
                <a:latin typeface="Calibri"/>
              </a:rPr>
              <a:t>validation macro-F1, patience 3</a:t>
            </a:r>
          </a:p>
          <a:p>
            <a:pPr algn="l">
              <a:spcAft>
                <a:spcPts val="700"/>
              </a:spcAft>
            </a:pPr>
            <a:r>
              <a:rPr sz="1400" b="1" i="0">
                <a:solidFill>
                  <a:srgbClr val="1F2A44"/>
                </a:solidFill>
                <a:latin typeface="Calibri"/>
              </a:rPr>
              <a:t>Augmentation  </a:t>
            </a:r>
            <a:r>
              <a:rPr sz="1400" b="0" i="0">
                <a:solidFill>
                  <a:srgbClr val="465166"/>
                </a:solidFill>
                <a:latin typeface="Calibri"/>
              </a:rPr>
              <a:t>±3° rotation, 2% shift</a:t>
            </a:r>
          </a:p>
          <a:p>
            <a:pPr algn="l">
              <a:spcAft>
                <a:spcPts val="700"/>
              </a:spcAft>
            </a:pPr>
            <a:r>
              <a:rPr sz="1400" b="1" i="0">
                <a:solidFill>
                  <a:srgbClr val="1F2A44"/>
                </a:solidFill>
                <a:latin typeface="Calibri"/>
              </a:rPr>
              <a:t>Seeds  </a:t>
            </a:r>
            <a:r>
              <a:rPr sz="1400" b="0" i="0">
                <a:solidFill>
                  <a:srgbClr val="465166"/>
                </a:solidFill>
                <a:latin typeface="Calibri"/>
              </a:rPr>
              <a:t>42, 43, 44 on the main task</a:t>
            </a:r>
          </a:p>
        </p:txBody>
      </p:sp>
      <p:sp>
        <p:nvSpPr>
          <p:cNvPr id="10" name="TextBox 9"/>
          <p:cNvSpPr txBox="1"/>
          <p:nvPr/>
        </p:nvSpPr>
        <p:spPr>
          <a:xfrm>
            <a:off x="548640" y="4754880"/>
            <a:ext cx="6766560" cy="1280160"/>
          </a:xfrm>
          <a:prstGeom prst="rect">
            <a:avLst/>
          </a:prstGeom>
          <a:noFill/>
        </p:spPr>
        <p:txBody>
          <a:bodyPr wrap="square" lIns="0" rIns="0" tIns="0" bIns="0" anchor="t">
            <a:spAutoFit/>
          </a:bodyPr>
          <a:lstStyle/>
          <a:p>
            <a:pPr algn="l"/>
            <a:r>
              <a:rPr sz="1400" b="0" i="0">
                <a:solidFill>
                  <a:srgbClr val="465166"/>
                </a:solidFill>
                <a:latin typeface="Calibri"/>
              </a:rPr>
              <a:t>The ViT splits each image into 196 patches of 16×16 px and uses self-attention to relate them. This lets it link the feed dot to the patch edges anywhere in the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METHOD</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Rules were committed before the results</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7 / 13</a:t>
            </a:r>
          </a:p>
        </p:txBody>
      </p:sp>
      <p:sp>
        <p:nvSpPr>
          <p:cNvPr id="6" name="Rounded Rectangle 5"/>
          <p:cNvSpPr/>
          <p:nvPr/>
        </p:nvSpPr>
        <p:spPr>
          <a:xfrm>
            <a:off x="548640" y="1691640"/>
            <a:ext cx="3593592" cy="28803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192024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417319" y="1947672"/>
            <a:ext cx="2560320" cy="411480"/>
          </a:xfrm>
          <a:prstGeom prst="rect">
            <a:avLst/>
          </a:prstGeom>
          <a:noFill/>
        </p:spPr>
        <p:txBody>
          <a:bodyPr wrap="square" lIns="0" rIns="0" tIns="0" bIns="0" anchor="ctr">
            <a:spAutoFit/>
          </a:bodyPr>
          <a:lstStyle/>
          <a:p>
            <a:pPr algn="l"/>
            <a:r>
              <a:rPr sz="1800" b="1" i="0">
                <a:solidFill>
                  <a:srgbClr val="14213D"/>
                </a:solidFill>
                <a:latin typeface="Calibri"/>
              </a:rPr>
              <a:t>Pre-registration</a:t>
            </a:r>
          </a:p>
        </p:txBody>
      </p:sp>
      <p:sp>
        <p:nvSpPr>
          <p:cNvPr id="9" name="TextBox 8"/>
          <p:cNvSpPr txBox="1"/>
          <p:nvPr/>
        </p:nvSpPr>
        <p:spPr>
          <a:xfrm>
            <a:off x="822959" y="2606040"/>
            <a:ext cx="3063240" cy="1920240"/>
          </a:xfrm>
          <a:prstGeom prst="rect">
            <a:avLst/>
          </a:prstGeom>
          <a:noFill/>
        </p:spPr>
        <p:txBody>
          <a:bodyPr wrap="square" lIns="0" rIns="0" tIns="0" bIns="0" anchor="t">
            <a:spAutoFit/>
          </a:bodyPr>
          <a:lstStyle/>
          <a:p>
            <a:pPr algn="l">
              <a:spcAft>
                <a:spcPts val="800"/>
              </a:spcAft>
            </a:pPr>
            <a:r>
              <a:rPr sz="1400" b="0" i="0">
                <a:solidFill>
                  <a:srgbClr val="465166"/>
                </a:solidFill>
                <a:latin typeface="Calibri"/>
              </a:rPr>
              <a:t>Hypotheses H1–H6 committed before training</a:t>
            </a:r>
          </a:p>
          <a:p>
            <a:pPr algn="l">
              <a:spcAft>
                <a:spcPts val="800"/>
              </a:spcAft>
            </a:pPr>
            <a:r>
              <a:rPr sz="1400" b="0" i="0">
                <a:solidFill>
                  <a:srgbClr val="465166"/>
                </a:solidFill>
                <a:latin typeface="Calibri"/>
              </a:rPr>
              <a:t>Selection on validation macro-F1 only</a:t>
            </a:r>
          </a:p>
          <a:p>
            <a:pPr algn="l">
              <a:spcAft>
                <a:spcPts val="800"/>
              </a:spcAft>
            </a:pPr>
            <a:r>
              <a:rPr sz="1400" b="0" i="0">
                <a:solidFill>
                  <a:srgbClr val="465166"/>
                </a:solidFill>
                <a:latin typeface="Calibri"/>
              </a:rPr>
              <a:t>Test split evaluated once per final model</a:t>
            </a:r>
          </a:p>
        </p:txBody>
      </p:sp>
      <p:sp>
        <p:nvSpPr>
          <p:cNvPr id="10" name="Rounded Rectangle 9"/>
          <p:cNvSpPr/>
          <p:nvPr/>
        </p:nvSpPr>
        <p:spPr>
          <a:xfrm>
            <a:off x="4297679" y="1691640"/>
            <a:ext cx="3593592" cy="28803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192024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5166359" y="1947672"/>
            <a:ext cx="2560320" cy="411480"/>
          </a:xfrm>
          <a:prstGeom prst="rect">
            <a:avLst/>
          </a:prstGeom>
          <a:noFill/>
        </p:spPr>
        <p:txBody>
          <a:bodyPr wrap="square" lIns="0" rIns="0" tIns="0" bIns="0" anchor="ctr">
            <a:spAutoFit/>
          </a:bodyPr>
          <a:lstStyle/>
          <a:p>
            <a:pPr algn="l"/>
            <a:r>
              <a:rPr sz="1800" b="1" i="0">
                <a:solidFill>
                  <a:srgbClr val="14213D"/>
                </a:solidFill>
                <a:latin typeface="Calibri"/>
              </a:rPr>
              <a:t>Metrics</a:t>
            </a:r>
          </a:p>
        </p:txBody>
      </p:sp>
      <p:sp>
        <p:nvSpPr>
          <p:cNvPr id="13" name="TextBox 12"/>
          <p:cNvSpPr txBox="1"/>
          <p:nvPr/>
        </p:nvSpPr>
        <p:spPr>
          <a:xfrm>
            <a:off x="4571999" y="2606040"/>
            <a:ext cx="3063240" cy="1920240"/>
          </a:xfrm>
          <a:prstGeom prst="rect">
            <a:avLst/>
          </a:prstGeom>
          <a:noFill/>
        </p:spPr>
        <p:txBody>
          <a:bodyPr wrap="square" lIns="0" rIns="0" tIns="0" bIns="0" anchor="t">
            <a:spAutoFit/>
          </a:bodyPr>
          <a:lstStyle/>
          <a:p>
            <a:pPr algn="l">
              <a:spcAft>
                <a:spcPts val="800"/>
              </a:spcAft>
            </a:pPr>
            <a:r>
              <a:rPr sz="1400" b="0" i="0">
                <a:solidFill>
                  <a:srgbClr val="465166"/>
                </a:solidFill>
                <a:latin typeface="Calibri"/>
              </a:rPr>
              <a:t>Macro-F1: the average over 3 classes, so the common class cannot dominate</a:t>
            </a:r>
          </a:p>
          <a:p>
            <a:pPr algn="l">
              <a:spcAft>
                <a:spcPts val="800"/>
              </a:spcAft>
            </a:pPr>
            <a:r>
              <a:rPr sz="1400" b="0" i="0">
                <a:solidFill>
                  <a:srgbClr val="465166"/>
                </a:solidFill>
                <a:latin typeface="Calibri"/>
              </a:rPr>
              <a:t>Balanced accuracy, ROC-AUC, calibration (ECE)</a:t>
            </a:r>
          </a:p>
          <a:p>
            <a:pPr algn="l">
              <a:spcAft>
                <a:spcPts val="800"/>
              </a:spcAft>
            </a:pPr>
            <a:r>
              <a:rPr sz="1400" b="0" i="0">
                <a:solidFill>
                  <a:srgbClr val="465166"/>
                </a:solidFill>
                <a:latin typeface="Calibri"/>
              </a:rPr>
              <a:t>McNemar’s test for paired model differences</a:t>
            </a:r>
          </a:p>
        </p:txBody>
      </p:sp>
      <p:sp>
        <p:nvSpPr>
          <p:cNvPr id="14" name="Rounded Rectangle 13"/>
          <p:cNvSpPr/>
          <p:nvPr/>
        </p:nvSpPr>
        <p:spPr>
          <a:xfrm>
            <a:off x="8046719" y="1691640"/>
            <a:ext cx="3593592" cy="28803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920240"/>
            <a:ext cx="457200" cy="457200"/>
          </a:xfrm>
          <a:prstGeom prst="ellipse">
            <a:avLst/>
          </a:prstGeom>
          <a:solidFill>
            <a:srgbClr val="C27A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8915399" y="1947672"/>
            <a:ext cx="2560320" cy="411480"/>
          </a:xfrm>
          <a:prstGeom prst="rect">
            <a:avLst/>
          </a:prstGeom>
          <a:noFill/>
        </p:spPr>
        <p:txBody>
          <a:bodyPr wrap="square" lIns="0" rIns="0" tIns="0" bIns="0" anchor="ctr">
            <a:spAutoFit/>
          </a:bodyPr>
          <a:lstStyle/>
          <a:p>
            <a:pPr algn="l"/>
            <a:r>
              <a:rPr sz="1800" b="1" i="0">
                <a:solidFill>
                  <a:srgbClr val="14213D"/>
                </a:solidFill>
                <a:latin typeface="Calibri"/>
              </a:rPr>
              <a:t>Stress tests</a:t>
            </a:r>
          </a:p>
        </p:txBody>
      </p:sp>
      <p:sp>
        <p:nvSpPr>
          <p:cNvPr id="17" name="TextBox 16"/>
          <p:cNvSpPr txBox="1"/>
          <p:nvPr/>
        </p:nvSpPr>
        <p:spPr>
          <a:xfrm>
            <a:off x="8321040" y="2606040"/>
            <a:ext cx="3063240" cy="1920240"/>
          </a:xfrm>
          <a:prstGeom prst="rect">
            <a:avLst/>
          </a:prstGeom>
          <a:noFill/>
        </p:spPr>
        <p:txBody>
          <a:bodyPr wrap="square" lIns="0" rIns="0" tIns="0" bIns="0" anchor="t">
            <a:spAutoFit/>
          </a:bodyPr>
          <a:lstStyle/>
          <a:p>
            <a:pPr algn="l">
              <a:spcAft>
                <a:spcPts val="800"/>
              </a:spcAft>
            </a:pPr>
            <a:r>
              <a:rPr sz="1400" b="0" i="0">
                <a:solidFill>
                  <a:srgbClr val="465166"/>
                </a:solidFill>
                <a:latin typeface="Calibri"/>
              </a:rPr>
              <a:t>Ablation: retrain without augmentation</a:t>
            </a:r>
          </a:p>
          <a:p>
            <a:pPr algn="l">
              <a:spcAft>
                <a:spcPts val="800"/>
              </a:spcAft>
            </a:pPr>
            <a:r>
              <a:rPr sz="1400" b="0" i="0">
                <a:solidFill>
                  <a:srgbClr val="465166"/>
                </a:solidFill>
                <a:latin typeface="Calibri"/>
              </a:rPr>
              <a:t>Attention rollout vs patch and feed areas</a:t>
            </a:r>
          </a:p>
          <a:p>
            <a:pPr algn="l">
              <a:spcAft>
                <a:spcPts val="800"/>
              </a:spcAft>
            </a:pPr>
            <a:r>
              <a:rPr sz="1400" b="0" i="0">
                <a:solidFill>
                  <a:srgbClr val="465166"/>
                </a:solidFill>
                <a:latin typeface="Calibri"/>
              </a:rPr>
              <a:t>OOD hold-out + 6 image perturbations</a:t>
            </a:r>
          </a:p>
        </p:txBody>
      </p:sp>
      <p:sp>
        <p:nvSpPr>
          <p:cNvPr id="18" name="Rounded Rectangle 17"/>
          <p:cNvSpPr/>
          <p:nvPr/>
        </p:nvSpPr>
        <p:spPr>
          <a:xfrm>
            <a:off x="548640" y="4800600"/>
            <a:ext cx="11091672" cy="1097280"/>
          </a:xfrm>
          <a:prstGeom prst="roundRect">
            <a:avLst>
              <a:gd name="adj" fmla="val 8000"/>
            </a:avLst>
          </a:prstGeom>
          <a:solidFill>
            <a:srgbClr val="FA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937760"/>
            <a:ext cx="10607040" cy="1097280"/>
          </a:xfrm>
          <a:prstGeom prst="rect">
            <a:avLst/>
          </a:prstGeom>
          <a:noFill/>
        </p:spPr>
        <p:txBody>
          <a:bodyPr wrap="square" lIns="0" rIns="0" tIns="0" bIns="0" anchor="t">
            <a:spAutoFit/>
          </a:bodyPr>
          <a:lstStyle/>
          <a:p>
            <a:pPr algn="l">
              <a:spcAft>
                <a:spcPts val="400"/>
              </a:spcAft>
            </a:pPr>
            <a:r>
              <a:rPr sz="1600" b="1" i="0">
                <a:solidFill>
                  <a:srgbClr val="9A5A1F"/>
                </a:solidFill>
                <a:latin typeface="Calibri"/>
              </a:rPr>
              <a:t>Amendment 1 · disclosed deviation</a:t>
            </a:r>
          </a:p>
          <a:p>
            <a:pPr algn="l">
              <a:spcAft>
                <a:spcPts val="400"/>
              </a:spcAft>
            </a:pPr>
            <a:r>
              <a:rPr sz="1400" b="0" i="0">
                <a:solidFill>
                  <a:srgbClr val="1F2A44"/>
                </a:solidFill>
                <a:latin typeface="Calibri"/>
              </a:rPr>
              <a:t>The pre-registered ViT underfitted (train accuracy ≈ 0.70, still rising). A revised setting was adopted only if its validation macro-F1 beat both 0.660 and the probe’s 0.702. It reached 0.694, so it was not adopted.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RESULTS · MAIN TASK</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Every model beats guessing; the pre-registered ViT trails</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8 / 13</a:t>
            </a:r>
          </a:p>
        </p:txBody>
      </p:sp>
      <p:graphicFrame>
        <p:nvGraphicFramePr>
          <p:cNvPr id="6" name="Chart 5"/>
          <p:cNvGraphicFramePr>
            <a:graphicFrameLocks noGrp="1"/>
          </p:cNvGraphicFramePr>
          <p:nvPr/>
        </p:nvGraphicFramePr>
        <p:xfrm>
          <a:off x="548640" y="1600200"/>
          <a:ext cx="6949440" cy="4343400"/>
        </p:xfrm>
        <a:graphic>
          <a:graphicData uri="http://schemas.openxmlformats.org/drawingml/2006/chart">
            <c:chart xmlns:c="http://schemas.openxmlformats.org/drawingml/2006/chart" r:id="rId3"/>
          </a:graphicData>
        </a:graphic>
      </p:graphicFrame>
      <p:sp>
        <p:nvSpPr>
          <p:cNvPr id="7" name="TextBox 6"/>
          <p:cNvSpPr txBox="1"/>
          <p:nvPr/>
        </p:nvSpPr>
        <p:spPr>
          <a:xfrm>
            <a:off x="548640" y="5989320"/>
            <a:ext cx="6949440" cy="274320"/>
          </a:xfrm>
          <a:prstGeom prst="rect">
            <a:avLst/>
          </a:prstGeom>
          <a:noFill/>
        </p:spPr>
        <p:txBody>
          <a:bodyPr wrap="square" lIns="0" rIns="0" tIns="0" bIns="0" anchor="t">
            <a:spAutoFit/>
          </a:bodyPr>
          <a:lstStyle/>
          <a:p>
            <a:pPr algn="l"/>
            <a:r>
              <a:rPr sz="1100" b="0" i="1">
                <a:solidFill>
                  <a:srgbClr val="6B7586"/>
                </a:solidFill>
                <a:latin typeface="Calibri"/>
              </a:rPr>
              <a:t>* Exploratory, single seed, not part of the pre-registered tests.</a:t>
            </a:r>
          </a:p>
        </p:txBody>
      </p:sp>
      <p:sp>
        <p:nvSpPr>
          <p:cNvPr id="8" name="TextBox 7"/>
          <p:cNvSpPr txBox="1"/>
          <p:nvPr/>
        </p:nvSpPr>
        <p:spPr>
          <a:xfrm>
            <a:off x="7863840" y="1691640"/>
            <a:ext cx="3749039" cy="365760"/>
          </a:xfrm>
          <a:prstGeom prst="rect">
            <a:avLst/>
          </a:prstGeom>
          <a:noFill/>
        </p:spPr>
        <p:txBody>
          <a:bodyPr wrap="square" lIns="0" rIns="0" tIns="0" bIns="0" anchor="t">
            <a:spAutoFit/>
          </a:bodyPr>
          <a:lstStyle/>
          <a:p>
            <a:pPr algn="l"/>
            <a:r>
              <a:rPr sz="1600" b="1" i="0">
                <a:solidFill>
                  <a:srgbClr val="14213D"/>
                </a:solidFill>
                <a:latin typeface="Calibri"/>
              </a:rPr>
              <a:t>Other tasks (seed 42, macro-F1)</a:t>
            </a:r>
          </a:p>
        </p:txBody>
      </p:sp>
      <p:graphicFrame>
        <p:nvGraphicFramePr>
          <p:cNvPr id="9" name="Table 8"/>
          <p:cNvGraphicFramePr>
            <a:graphicFrameLocks noGrp="1"/>
          </p:cNvGraphicFramePr>
          <p:nvPr/>
        </p:nvGraphicFramePr>
        <p:xfrm>
          <a:off x="7863840" y="2148840"/>
          <a:ext cx="3776472" cy="1371600"/>
        </p:xfrm>
        <a:graphic>
          <a:graphicData uri="http://schemas.openxmlformats.org/drawingml/2006/table">
            <a:tbl>
              <a:tblPr firstRow="1" bandRow="1">
                <a:tableStyleId>{5C22544A-7EE6-4342-B048-85BDC9FD1C3A}</a:tableStyleId>
              </a:tblPr>
              <a:tblGrid>
                <a:gridCol w="1581912"/>
                <a:gridCol w="731520"/>
                <a:gridCol w="731520"/>
                <a:gridCol w="731520"/>
              </a:tblGrid>
              <a:tr h="457200">
                <a:tc>
                  <a:txBody>
                    <a:bodyPr/>
                    <a:lstStyle/>
                    <a:p>
                      <a:pPr algn="l"/>
                      <a:r>
                        <a:rPr sz="1300" b="1">
                          <a:solidFill>
                            <a:srgbClr val="FFFFFF"/>
                          </a:solidFill>
                          <a:latin typeface="Calibri"/>
                        </a:rPr>
                        <a:t>Task</a:t>
                      </a:r>
                    </a:p>
                  </a:txBody>
                  <a:tcPr marL="109728" marR="109728" marT="45720" marB="45720" anchor="ctr">
                    <a:solidFill>
                      <a:srgbClr val="14213D"/>
                    </a:solidFill>
                  </a:tcPr>
                </a:tc>
                <a:tc>
                  <a:txBody>
                    <a:bodyPr/>
                    <a:lstStyle/>
                    <a:p>
                      <a:pPr algn="l"/>
                      <a:r>
                        <a:rPr sz="1300" b="1">
                          <a:solidFill>
                            <a:srgbClr val="FFFFFF"/>
                          </a:solidFill>
                          <a:latin typeface="Calibri"/>
                        </a:rPr>
                        <a:t>CNN</a:t>
                      </a:r>
                    </a:p>
                  </a:txBody>
                  <a:tcPr marL="109728" marR="109728" marT="45720" marB="45720" anchor="ctr">
                    <a:solidFill>
                      <a:srgbClr val="14213D"/>
                    </a:solidFill>
                  </a:tcPr>
                </a:tc>
                <a:tc>
                  <a:txBody>
                    <a:bodyPr/>
                    <a:lstStyle/>
                    <a:p>
                      <a:pPr algn="l"/>
                      <a:r>
                        <a:rPr sz="1300" b="1">
                          <a:solidFill>
                            <a:srgbClr val="FFFFFF"/>
                          </a:solidFill>
                          <a:latin typeface="Calibri"/>
                        </a:rPr>
                        <a:t>Probe</a:t>
                      </a:r>
                    </a:p>
                  </a:txBody>
                  <a:tcPr marL="109728" marR="109728" marT="45720" marB="45720" anchor="ctr">
                    <a:solidFill>
                      <a:srgbClr val="14213D"/>
                    </a:solidFill>
                  </a:tcPr>
                </a:tc>
                <a:tc>
                  <a:txBody>
                    <a:bodyPr/>
                    <a:lstStyle/>
                    <a:p>
                      <a:pPr algn="l"/>
                      <a:r>
                        <a:rPr sz="1300" b="1">
                          <a:solidFill>
                            <a:srgbClr val="FFFFFF"/>
                          </a:solidFill>
                          <a:latin typeface="Calibri"/>
                        </a:rPr>
                        <a:t>ViT FT</a:t>
                      </a:r>
                    </a:p>
                  </a:txBody>
                  <a:tcPr marL="109728" marR="109728" marT="45720" marB="45720" anchor="ctr">
                    <a:solidFill>
                      <a:srgbClr val="14213D"/>
                    </a:solidFill>
                  </a:tcPr>
                </a:tc>
              </a:tr>
              <a:tr h="457200">
                <a:tc>
                  <a:txBody>
                    <a:bodyPr/>
                    <a:lstStyle/>
                    <a:p>
                      <a:pPr algn="l"/>
                      <a:r>
                        <a:rPr sz="1300" b="0" i="0">
                          <a:solidFill>
                            <a:srgbClr val="1F2A44"/>
                          </a:solidFill>
                          <a:latin typeface="Calibri"/>
                        </a:rPr>
                        <a:t>Band class</a:t>
                      </a:r>
                    </a:p>
                  </a:txBody>
                  <a:tcPr marL="109728" marR="109728" marT="45720" marB="45720" anchor="ctr">
                    <a:solidFill>
                      <a:srgbClr val="FFFFFF"/>
                    </a:solidFill>
                  </a:tcPr>
                </a:tc>
                <a:tc>
                  <a:txBody>
                    <a:bodyPr/>
                    <a:lstStyle/>
                    <a:p>
                      <a:pPr algn="r"/>
                      <a:r>
                        <a:rPr sz="1300" b="0" i="0">
                          <a:solidFill>
                            <a:srgbClr val="1F2A44"/>
                          </a:solidFill>
                          <a:latin typeface="Calibri"/>
                        </a:rPr>
                        <a:t>0.657</a:t>
                      </a:r>
                    </a:p>
                  </a:txBody>
                  <a:tcPr marL="109728" marR="109728" marT="45720" marB="45720" anchor="ctr">
                    <a:solidFill>
                      <a:srgbClr val="FFFFFF"/>
                    </a:solidFill>
                  </a:tcPr>
                </a:tc>
                <a:tc>
                  <a:txBody>
                    <a:bodyPr/>
                    <a:lstStyle/>
                    <a:p>
                      <a:pPr algn="r"/>
                      <a:r>
                        <a:rPr sz="1300" b="1" i="0">
                          <a:solidFill>
                            <a:srgbClr val="1F2A44"/>
                          </a:solidFill>
                          <a:latin typeface="Calibri"/>
                        </a:rPr>
                        <a:t>0.811</a:t>
                      </a:r>
                    </a:p>
                  </a:txBody>
                  <a:tcPr marL="109728" marR="109728" marT="45720" marB="45720" anchor="ctr">
                    <a:solidFill>
                      <a:srgbClr val="FFFFFF"/>
                    </a:solidFill>
                  </a:tcPr>
                </a:tc>
                <a:tc>
                  <a:txBody>
                    <a:bodyPr/>
                    <a:lstStyle/>
                    <a:p>
                      <a:pPr algn="r"/>
                      <a:r>
                        <a:rPr sz="1300" b="0" i="0">
                          <a:solidFill>
                            <a:srgbClr val="1F2A44"/>
                          </a:solidFill>
                          <a:latin typeface="Calibri"/>
                        </a:rPr>
                        <a:t>0.685</a:t>
                      </a:r>
                    </a:p>
                  </a:txBody>
                  <a:tcPr marL="109728" marR="109728" marT="45720" marB="45720" anchor="ctr">
                    <a:solidFill>
                      <a:srgbClr val="FFFFFF"/>
                    </a:solidFill>
                  </a:tcPr>
                </a:tc>
              </a:tr>
              <a:tr h="457200">
                <a:tc>
                  <a:txBody>
                    <a:bodyPr/>
                    <a:lstStyle/>
                    <a:p>
                      <a:pPr algn="l"/>
                      <a:r>
                        <a:rPr sz="1300" b="0" i="0">
                          <a:solidFill>
                            <a:srgbClr val="1F2A44"/>
                          </a:solidFill>
                          <a:latin typeface="Calibri"/>
                        </a:rPr>
                        <a:t>Beamwidth (RadPat)</a:t>
                      </a:r>
                    </a:p>
                  </a:txBody>
                  <a:tcPr marL="109728" marR="109728" marT="45720" marB="45720" anchor="ctr">
                    <a:solidFill>
                      <a:srgbClr val="F1F3F7"/>
                    </a:solidFill>
                  </a:tcPr>
                </a:tc>
                <a:tc>
                  <a:txBody>
                    <a:bodyPr/>
                    <a:lstStyle/>
                    <a:p>
                      <a:pPr algn="r"/>
                      <a:r>
                        <a:rPr sz="1300" b="0" i="0">
                          <a:solidFill>
                            <a:srgbClr val="1F2A44"/>
                          </a:solidFill>
                          <a:latin typeface="Calibri"/>
                        </a:rPr>
                        <a:t>0.856</a:t>
                      </a:r>
                    </a:p>
                  </a:txBody>
                  <a:tcPr marL="109728" marR="109728" marT="45720" marB="45720" anchor="ctr">
                    <a:solidFill>
                      <a:srgbClr val="F1F3F7"/>
                    </a:solidFill>
                  </a:tcPr>
                </a:tc>
                <a:tc>
                  <a:txBody>
                    <a:bodyPr/>
                    <a:lstStyle/>
                    <a:p>
                      <a:pPr algn="r"/>
                      <a:r>
                        <a:rPr sz="1300" b="1" i="0">
                          <a:solidFill>
                            <a:srgbClr val="1F2A44"/>
                          </a:solidFill>
                          <a:latin typeface="Calibri"/>
                        </a:rPr>
                        <a:t>0.884</a:t>
                      </a:r>
                    </a:p>
                  </a:txBody>
                  <a:tcPr marL="109728" marR="109728" marT="45720" marB="45720" anchor="ctr">
                    <a:solidFill>
                      <a:srgbClr val="F1F3F7"/>
                    </a:solidFill>
                  </a:tcPr>
                </a:tc>
                <a:tc>
                  <a:txBody>
                    <a:bodyPr/>
                    <a:lstStyle/>
                    <a:p>
                      <a:pPr algn="r"/>
                      <a:r>
                        <a:rPr sz="1300" b="0" i="0">
                          <a:solidFill>
                            <a:srgbClr val="1F2A44"/>
                          </a:solidFill>
                          <a:latin typeface="Calibri"/>
                        </a:rPr>
                        <a:t>0.881</a:t>
                      </a:r>
                    </a:p>
                  </a:txBody>
                  <a:tcPr marL="109728" marR="109728" marT="45720" marB="45720" anchor="ctr">
                    <a:solidFill>
                      <a:srgbClr val="F1F3F7"/>
                    </a:solidFill>
                  </a:tcPr>
                </a:tc>
              </a:tr>
            </a:tbl>
          </a:graphicData>
        </a:graphic>
      </p:graphicFrame>
      <p:sp>
        <p:nvSpPr>
          <p:cNvPr id="10" name="TextBox 9"/>
          <p:cNvSpPr txBox="1"/>
          <p:nvPr/>
        </p:nvSpPr>
        <p:spPr>
          <a:xfrm>
            <a:off x="7863840" y="3749039"/>
            <a:ext cx="3749039" cy="2377440"/>
          </a:xfrm>
          <a:prstGeom prst="rect">
            <a:avLst/>
          </a:prstGeom>
          <a:noFill/>
        </p:spPr>
        <p:txBody>
          <a:bodyPr wrap="square" lIns="0" rIns="0" tIns="0" bIns="0" anchor="t">
            <a:spAutoFit/>
          </a:bodyPr>
          <a:lstStyle/>
          <a:p>
            <a:pPr algn="l">
              <a:spcAft>
                <a:spcPts val="1000"/>
              </a:spcAft>
            </a:pPr>
            <a:r>
              <a:rPr sz="1400" b="0" i="0">
                <a:solidFill>
                  <a:srgbClr val="465166"/>
                </a:solidFill>
                <a:latin typeface="Calibri"/>
              </a:rPr>
              <a:t>The frozen probe also scores highest on both secondary tasks.</a:t>
            </a:r>
          </a:p>
          <a:p>
            <a:pPr algn="l">
              <a:spcAft>
                <a:spcPts val="1000"/>
              </a:spcAft>
            </a:pPr>
            <a:r>
              <a:rPr sz="1400" b="0" i="0">
                <a:solidFill>
                  <a:srgbClr val="465166"/>
                </a:solidFill>
                <a:latin typeface="Calibri"/>
              </a:rPr>
              <a:t>Radiation-pattern plots give the highest scores (≈0.88), but they are a different dataset and task, so this is descriptive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HYPOTHESIS TESTS</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One clear yes, one weak yes, three not supported</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9 / 13</a:t>
            </a:r>
          </a:p>
        </p:txBody>
      </p:sp>
      <p:graphicFrame>
        <p:nvGraphicFramePr>
          <p:cNvPr id="6" name="Table 5"/>
          <p:cNvGraphicFramePr>
            <a:graphicFrameLocks noGrp="1"/>
          </p:cNvGraphicFramePr>
          <p:nvPr/>
        </p:nvGraphicFramePr>
        <p:xfrm>
          <a:off x="548640" y="1691640"/>
          <a:ext cx="11091672" cy="3950208"/>
        </p:xfrm>
        <a:graphic>
          <a:graphicData uri="http://schemas.openxmlformats.org/drawingml/2006/table">
            <a:tbl>
              <a:tblPr firstRow="1" bandRow="1">
                <a:tableStyleId>{5C22544A-7EE6-4342-B048-85BDC9FD1C3A}</a:tableStyleId>
              </a:tblPr>
              <a:tblGrid>
                <a:gridCol w="548640"/>
                <a:gridCol w="4206240"/>
                <a:gridCol w="1828800"/>
                <a:gridCol w="4507992"/>
              </a:tblGrid>
              <a:tr h="658368">
                <a:tc>
                  <a:txBody>
                    <a:bodyPr/>
                    <a:lstStyle/>
                    <a:p>
                      <a:pPr algn="l"/>
                      <a:r>
                        <a:rPr sz="1400" b="1">
                          <a:solidFill>
                            <a:srgbClr val="FFFFFF"/>
                          </a:solidFill>
                          <a:latin typeface="Calibri"/>
                        </a:rPr>
                        <a:t/>
                      </a:r>
                    </a:p>
                  </a:txBody>
                  <a:tcPr marL="109728" marR="109728" marT="45720" marB="45720" anchor="ctr">
                    <a:solidFill>
                      <a:srgbClr val="14213D"/>
                    </a:solidFill>
                  </a:tcPr>
                </a:tc>
                <a:tc>
                  <a:txBody>
                    <a:bodyPr/>
                    <a:lstStyle/>
                    <a:p>
                      <a:pPr algn="l"/>
                      <a:r>
                        <a:rPr sz="1400" b="1">
                          <a:solidFill>
                            <a:srgbClr val="FFFFFF"/>
                          </a:solidFill>
                          <a:latin typeface="Calibri"/>
                        </a:rPr>
                        <a:t>Hypothesis</a:t>
                      </a:r>
                    </a:p>
                  </a:txBody>
                  <a:tcPr marL="109728" marR="109728" marT="45720" marB="45720" anchor="ctr">
                    <a:solidFill>
                      <a:srgbClr val="14213D"/>
                    </a:solidFill>
                  </a:tcPr>
                </a:tc>
                <a:tc>
                  <a:txBody>
                    <a:bodyPr/>
                    <a:lstStyle/>
                    <a:p>
                      <a:pPr algn="l"/>
                      <a:r>
                        <a:rPr sz="1400" b="1">
                          <a:solidFill>
                            <a:srgbClr val="FFFFFF"/>
                          </a:solidFill>
                          <a:latin typeface="Calibri"/>
                        </a:rPr>
                        <a:t>Verdict</a:t>
                      </a:r>
                    </a:p>
                  </a:txBody>
                  <a:tcPr marL="109728" marR="109728" marT="45720" marB="45720" anchor="ctr">
                    <a:solidFill>
                      <a:srgbClr val="14213D"/>
                    </a:solidFill>
                  </a:tcPr>
                </a:tc>
                <a:tc>
                  <a:txBody>
                    <a:bodyPr/>
                    <a:lstStyle/>
                    <a:p>
                      <a:pPr algn="l"/>
                      <a:r>
                        <a:rPr sz="1400" b="1">
                          <a:solidFill>
                            <a:srgbClr val="FFFFFF"/>
                          </a:solidFill>
                          <a:latin typeface="Calibri"/>
                        </a:rPr>
                        <a:t>Evidence</a:t>
                      </a:r>
                    </a:p>
                  </a:txBody>
                  <a:tcPr marL="109728" marR="109728" marT="45720" marB="45720" anchor="ctr">
                    <a:solidFill>
                      <a:srgbClr val="14213D"/>
                    </a:solidFill>
                  </a:tcPr>
                </a:tc>
              </a:tr>
              <a:tr h="658368">
                <a:tc>
                  <a:txBody>
                    <a:bodyPr/>
                    <a:lstStyle/>
                    <a:p>
                      <a:pPr algn="l"/>
                      <a:r>
                        <a:rPr sz="1400" b="1" i="0">
                          <a:solidFill>
                            <a:srgbClr val="1F2A44"/>
                          </a:solidFill>
                          <a:latin typeface="Calibri"/>
                        </a:rPr>
                        <a:t>H1</a:t>
                      </a:r>
                    </a:p>
                  </a:txBody>
                  <a:tcPr marL="109728" marR="109728" marT="45720" marB="45720" anchor="ctr">
                    <a:solidFill>
                      <a:srgbClr val="FFFFFF"/>
                    </a:solidFill>
                  </a:tcPr>
                </a:tc>
                <a:tc>
                  <a:txBody>
                    <a:bodyPr/>
                    <a:lstStyle/>
                    <a:p>
                      <a:pPr algn="l"/>
                      <a:r>
                        <a:rPr sz="1400" b="0" i="0">
                          <a:solidFill>
                            <a:srgbClr val="1F2A44"/>
                          </a:solidFill>
                          <a:latin typeface="Calibri"/>
                        </a:rPr>
                        <a:t>Fine-tuned ViT beats the majority baseline</a:t>
                      </a:r>
                    </a:p>
                  </a:txBody>
                  <a:tcPr marL="109728" marR="109728" marT="45720" marB="45720" anchor="ctr">
                    <a:solidFill>
                      <a:srgbClr val="FFFFFF"/>
                    </a:solidFill>
                  </a:tcPr>
                </a:tc>
                <a:tc>
                  <a:txBody>
                    <a:bodyPr/>
                    <a:lstStyle/>
                    <a:p>
                      <a:pPr algn="l"/>
                      <a:r>
                        <a:rPr sz="1400" b="1" i="0">
                          <a:solidFill>
                            <a:srgbClr val="2E6B3F"/>
                          </a:solidFill>
                          <a:latin typeface="Calibri"/>
                        </a:rPr>
                        <a:t>Supported</a:t>
                      </a:r>
                    </a:p>
                  </a:txBody>
                  <a:tcPr marL="109728" marR="109728" marT="45720" marB="45720" anchor="ctr">
                    <a:solidFill>
                      <a:srgbClr val="FFFFFF"/>
                    </a:solidFill>
                  </a:tcPr>
                </a:tc>
                <a:tc>
                  <a:txBody>
                    <a:bodyPr/>
                    <a:lstStyle/>
                    <a:p>
                      <a:pPr algn="l"/>
                      <a:r>
                        <a:rPr sz="1400" b="0" i="0">
                          <a:solidFill>
                            <a:srgbClr val="1F2A44"/>
                          </a:solidFill>
                          <a:latin typeface="Calibri"/>
                        </a:rPr>
                        <a:t>0.582 vs 0.269 (matching); 0.685 vs 0.260 (band)</a:t>
                      </a:r>
                    </a:p>
                  </a:txBody>
                  <a:tcPr marL="109728" marR="109728" marT="45720" marB="45720" anchor="ctr">
                    <a:solidFill>
                      <a:srgbClr val="FFFFFF"/>
                    </a:solidFill>
                  </a:tcPr>
                </a:tc>
              </a:tr>
              <a:tr h="658368">
                <a:tc>
                  <a:txBody>
                    <a:bodyPr/>
                    <a:lstStyle/>
                    <a:p>
                      <a:pPr algn="l"/>
                      <a:r>
                        <a:rPr sz="1400" b="1" i="0">
                          <a:solidFill>
                            <a:srgbClr val="1F2A44"/>
                          </a:solidFill>
                          <a:latin typeface="Calibri"/>
                        </a:rPr>
                        <a:t>H2</a:t>
                      </a:r>
                    </a:p>
                  </a:txBody>
                  <a:tcPr marL="109728" marR="109728" marT="45720" marB="45720" anchor="ctr">
                    <a:solidFill>
                      <a:srgbClr val="F1F3F7"/>
                    </a:solidFill>
                  </a:tcPr>
                </a:tc>
                <a:tc>
                  <a:txBody>
                    <a:bodyPr/>
                    <a:lstStyle/>
                    <a:p>
                      <a:pPr algn="l"/>
                      <a:r>
                        <a:rPr sz="1400" b="0" i="0">
                          <a:solidFill>
                            <a:srgbClr val="1F2A44"/>
                          </a:solidFill>
                          <a:latin typeface="Calibri"/>
                        </a:rPr>
                        <a:t>Fine-tuned ViT ≥ compact CNN (3 seeds)</a:t>
                      </a:r>
                    </a:p>
                  </a:txBody>
                  <a:tcPr marL="109728" marR="109728" marT="45720" marB="45720" anchor="ctr">
                    <a:solidFill>
                      <a:srgbClr val="F1F3F7"/>
                    </a:solidFill>
                  </a:tcPr>
                </a:tc>
                <a:tc>
                  <a:txBody>
                    <a:bodyPr/>
                    <a:lstStyle/>
                    <a:p>
                      <a:pPr algn="l"/>
                      <a:r>
                        <a:rPr sz="1400" b="1" i="0">
                          <a:solidFill>
                            <a:srgbClr val="A33A2A"/>
                          </a:solidFill>
                          <a:latin typeface="Calibri"/>
                        </a:rPr>
                        <a:t>Not supported</a:t>
                      </a:r>
                    </a:p>
                  </a:txBody>
                  <a:tcPr marL="109728" marR="109728" marT="45720" marB="45720" anchor="ctr">
                    <a:solidFill>
                      <a:srgbClr val="F1F3F7"/>
                    </a:solidFill>
                  </a:tcPr>
                </a:tc>
                <a:tc>
                  <a:txBody>
                    <a:bodyPr/>
                    <a:lstStyle/>
                    <a:p>
                      <a:pPr algn="l"/>
                      <a:r>
                        <a:rPr sz="1400" b="0" i="0">
                          <a:solidFill>
                            <a:srgbClr val="1F2A44"/>
                          </a:solidFill>
                          <a:latin typeface="Calibri"/>
                        </a:rPr>
                        <a:t>0.582 vs 0.643; McNemar 5 vs 23, p = 0.0009</a:t>
                      </a:r>
                    </a:p>
                  </a:txBody>
                  <a:tcPr marL="109728" marR="109728" marT="45720" marB="45720" anchor="ctr">
                    <a:solidFill>
                      <a:srgbClr val="F1F3F7"/>
                    </a:solidFill>
                  </a:tcPr>
                </a:tc>
              </a:tr>
              <a:tr h="658368">
                <a:tc>
                  <a:txBody>
                    <a:bodyPr/>
                    <a:lstStyle/>
                    <a:p>
                      <a:pPr algn="l"/>
                      <a:r>
                        <a:rPr sz="1400" b="1" i="0">
                          <a:solidFill>
                            <a:srgbClr val="1F2A44"/>
                          </a:solidFill>
                          <a:latin typeface="Calibri"/>
                        </a:rPr>
                        <a:t>H3</a:t>
                      </a:r>
                    </a:p>
                  </a:txBody>
                  <a:tcPr marL="109728" marR="109728" marT="45720" marB="45720" anchor="ctr">
                    <a:solidFill>
                      <a:srgbClr val="FFFFFF"/>
                    </a:solidFill>
                  </a:tcPr>
                </a:tc>
                <a:tc>
                  <a:txBody>
                    <a:bodyPr/>
                    <a:lstStyle/>
                    <a:p>
                      <a:pPr algn="l"/>
                      <a:r>
                        <a:rPr sz="1400" b="0" i="0">
                          <a:solidFill>
                            <a:srgbClr val="1F2A44"/>
                          </a:solidFill>
                          <a:latin typeface="Calibri"/>
                        </a:rPr>
                        <a:t>Fine-tuning beats the frozen linear probe</a:t>
                      </a:r>
                    </a:p>
                  </a:txBody>
                  <a:tcPr marL="109728" marR="109728" marT="45720" marB="45720" anchor="ctr">
                    <a:solidFill>
                      <a:srgbClr val="FFFFFF"/>
                    </a:solidFill>
                  </a:tcPr>
                </a:tc>
                <a:tc>
                  <a:txBody>
                    <a:bodyPr/>
                    <a:lstStyle/>
                    <a:p>
                      <a:pPr algn="l"/>
                      <a:r>
                        <a:rPr sz="1400" b="1" i="0">
                          <a:solidFill>
                            <a:srgbClr val="A33A2A"/>
                          </a:solidFill>
                          <a:latin typeface="Calibri"/>
                        </a:rPr>
                        <a:t>Not supported</a:t>
                      </a:r>
                    </a:p>
                  </a:txBody>
                  <a:tcPr marL="109728" marR="109728" marT="45720" marB="45720" anchor="ctr">
                    <a:solidFill>
                      <a:srgbClr val="FFFFFF"/>
                    </a:solidFill>
                  </a:tcPr>
                </a:tc>
                <a:tc>
                  <a:txBody>
                    <a:bodyPr/>
                    <a:lstStyle/>
                    <a:p>
                      <a:pPr algn="l"/>
                      <a:r>
                        <a:rPr sz="1400" b="0" i="0">
                          <a:solidFill>
                            <a:srgbClr val="1F2A44"/>
                          </a:solidFill>
                          <a:latin typeface="Calibri"/>
                        </a:rPr>
                        <a:t>0.582 vs 0.709; McNemar p = 0.009</a:t>
                      </a:r>
                    </a:p>
                  </a:txBody>
                  <a:tcPr marL="109728" marR="109728" marT="45720" marB="45720" anchor="ctr">
                    <a:solidFill>
                      <a:srgbClr val="FFFFFF"/>
                    </a:solidFill>
                  </a:tcPr>
                </a:tc>
              </a:tr>
              <a:tr h="658368">
                <a:tc>
                  <a:txBody>
                    <a:bodyPr/>
                    <a:lstStyle/>
                    <a:p>
                      <a:pPr algn="l"/>
                      <a:r>
                        <a:rPr sz="1400" b="1" i="0">
                          <a:solidFill>
                            <a:srgbClr val="1F2A44"/>
                          </a:solidFill>
                          <a:latin typeface="Calibri"/>
                        </a:rPr>
                        <a:t>H4</a:t>
                      </a:r>
                    </a:p>
                  </a:txBody>
                  <a:tcPr marL="109728" marR="109728" marT="45720" marB="45720" anchor="ctr">
                    <a:solidFill>
                      <a:srgbClr val="F1F3F7"/>
                    </a:solidFill>
                  </a:tcPr>
                </a:tc>
                <a:tc>
                  <a:txBody>
                    <a:bodyPr/>
                    <a:lstStyle/>
                    <a:p>
                      <a:pPr algn="l"/>
                      <a:r>
                        <a:rPr sz="1400" b="0" i="0">
                          <a:solidFill>
                            <a:srgbClr val="1F2A44"/>
                          </a:solidFill>
                          <a:latin typeface="Calibri"/>
                        </a:rPr>
                        <a:t>Attention enriched on patch and feed</a:t>
                      </a:r>
                    </a:p>
                  </a:txBody>
                  <a:tcPr marL="109728" marR="109728" marT="45720" marB="45720" anchor="ctr">
                    <a:solidFill>
                      <a:srgbClr val="F1F3F7"/>
                    </a:solidFill>
                  </a:tcPr>
                </a:tc>
                <a:tc>
                  <a:txBody>
                    <a:bodyPr/>
                    <a:lstStyle/>
                    <a:p>
                      <a:pPr algn="l"/>
                      <a:r>
                        <a:rPr sz="1400" b="1" i="0">
                          <a:solidFill>
                            <a:srgbClr val="2E6B3F"/>
                          </a:solidFill>
                          <a:latin typeface="Calibri"/>
                        </a:rPr>
                        <a:t>Supported, weak</a:t>
                      </a:r>
                    </a:p>
                  </a:txBody>
                  <a:tcPr marL="109728" marR="109728" marT="45720" marB="45720" anchor="ctr">
                    <a:solidFill>
                      <a:srgbClr val="F1F3F7"/>
                    </a:solidFill>
                  </a:tcPr>
                </a:tc>
                <a:tc>
                  <a:txBody>
                    <a:bodyPr/>
                    <a:lstStyle/>
                    <a:p>
                      <a:pPr algn="l"/>
                      <a:r>
                        <a:rPr sz="1400" b="0" i="0">
                          <a:solidFill>
                            <a:srgbClr val="1F2A44"/>
                          </a:solidFill>
                          <a:latin typeface="Calibri"/>
                        </a:rPr>
                        <a:t>Feed 1.41×, patch 1.03× their area share</a:t>
                      </a:r>
                    </a:p>
                  </a:txBody>
                  <a:tcPr marL="109728" marR="109728" marT="45720" marB="45720" anchor="ctr">
                    <a:solidFill>
                      <a:srgbClr val="F1F3F7"/>
                    </a:solidFill>
                  </a:tcPr>
                </a:tc>
              </a:tr>
              <a:tr h="658368">
                <a:tc>
                  <a:txBody>
                    <a:bodyPr/>
                    <a:lstStyle/>
                    <a:p>
                      <a:pPr algn="l"/>
                      <a:r>
                        <a:rPr sz="1400" b="1" i="0">
                          <a:solidFill>
                            <a:srgbClr val="1F2A44"/>
                          </a:solidFill>
                          <a:latin typeface="Calibri"/>
                        </a:rPr>
                        <a:t>H5</a:t>
                      </a:r>
                    </a:p>
                  </a:txBody>
                  <a:tcPr marL="109728" marR="109728" marT="45720" marB="45720" anchor="ctr">
                    <a:solidFill>
                      <a:srgbClr val="FFFFFF"/>
                    </a:solidFill>
                  </a:tcPr>
                </a:tc>
                <a:tc>
                  <a:txBody>
                    <a:bodyPr/>
                    <a:lstStyle/>
                    <a:p>
                      <a:pPr algn="l"/>
                      <a:r>
                        <a:rPr sz="1400" b="0" i="0">
                          <a:solidFill>
                            <a:srgbClr val="1F2A44"/>
                          </a:solidFill>
                          <a:latin typeface="Calibri"/>
                        </a:rPr>
                        <a:t>Scores drop on unseen wide patches (OOD)</a:t>
                      </a:r>
                    </a:p>
                  </a:txBody>
                  <a:tcPr marL="109728" marR="109728" marT="45720" marB="45720" anchor="ctr">
                    <a:solidFill>
                      <a:srgbClr val="FFFFFF"/>
                    </a:solidFill>
                  </a:tcPr>
                </a:tc>
                <a:tc>
                  <a:txBody>
                    <a:bodyPr/>
                    <a:lstStyle/>
                    <a:p>
                      <a:pPr algn="l"/>
                      <a:r>
                        <a:rPr sz="1400" b="1" i="0">
                          <a:solidFill>
                            <a:srgbClr val="A33A2A"/>
                          </a:solidFill>
                          <a:latin typeface="Calibri"/>
                        </a:rPr>
                        <a:t>Not supported</a:t>
                      </a:r>
                    </a:p>
                  </a:txBody>
                  <a:tcPr marL="109728" marR="109728" marT="45720" marB="45720" anchor="ctr">
                    <a:solidFill>
                      <a:srgbClr val="FFFFFF"/>
                    </a:solidFill>
                  </a:tcPr>
                </a:tc>
                <a:tc>
                  <a:txBody>
                    <a:bodyPr/>
                    <a:lstStyle/>
                    <a:p>
                      <a:pPr algn="l"/>
                      <a:r>
                        <a:rPr sz="1400" b="0" i="0">
                          <a:solidFill>
                            <a:srgbClr val="1F2A44"/>
                          </a:solidFill>
                          <a:latin typeface="Calibri"/>
                        </a:rPr>
                        <a:t>OOD 0.679 vs test 0.582; class mix differs</a:t>
                      </a:r>
                    </a:p>
                  </a:txBody>
                  <a:tcPr marL="109728" marR="109728" marT="45720" marB="45720" anchor="ctr">
                    <a:solidFill>
                      <a:srgbClr val="FFFFFF"/>
                    </a:solidFill>
                  </a:tcPr>
                </a:tc>
              </a:tr>
            </a:tbl>
          </a:graphicData>
        </a:graphic>
      </p:graphicFrame>
      <p:sp>
        <p:nvSpPr>
          <p:cNvPr id="7" name="TextBox 6"/>
          <p:cNvSpPr txBox="1"/>
          <p:nvPr/>
        </p:nvSpPr>
        <p:spPr>
          <a:xfrm>
            <a:off x="548640" y="5760720"/>
            <a:ext cx="10972800" cy="365760"/>
          </a:xfrm>
          <a:prstGeom prst="rect">
            <a:avLst/>
          </a:prstGeom>
          <a:noFill/>
        </p:spPr>
        <p:txBody>
          <a:bodyPr wrap="square" lIns="0" rIns="0" tIns="0" bIns="0" anchor="t">
            <a:spAutoFit/>
          </a:bodyPr>
          <a:lstStyle/>
          <a:p>
            <a:pPr algn="l"/>
            <a:r>
              <a:rPr sz="1200" b="0" i="1">
                <a:solidFill>
                  <a:srgbClr val="6B7586"/>
                </a:solidFill>
                <a:latin typeface="Calibri"/>
              </a:rPr>
              <a:t>H6 (fusion with numeric features) belongs to the fusion stage: 0.737 fused vs 0.775 image-only, not supported.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E2A96B"/>
                </a:solidFill>
                <a:latin typeface="Calibri"/>
              </a:rPr>
              <a:t>WHY THE VIT UNDERPERFORMED</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F4F1EA"/>
                </a:solidFill>
                <a:latin typeface="Cambria"/>
              </a:rPr>
              <a:t>Augmentation blurred the detail that decides matching</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A7AFBC"/>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A7AFBC"/>
                </a:solidFill>
                <a:latin typeface="Calibri"/>
              </a:rPr>
              <a:t>10 / 13</a:t>
            </a:r>
          </a:p>
        </p:txBody>
      </p:sp>
      <p:sp>
        <p:nvSpPr>
          <p:cNvPr id="6" name="TextBox 5"/>
          <p:cNvSpPr txBox="1"/>
          <p:nvPr/>
        </p:nvSpPr>
        <p:spPr>
          <a:xfrm>
            <a:off x="548640" y="1691640"/>
            <a:ext cx="10515600" cy="914400"/>
          </a:xfrm>
          <a:prstGeom prst="rect">
            <a:avLst/>
          </a:prstGeom>
          <a:noFill/>
        </p:spPr>
        <p:txBody>
          <a:bodyPr wrap="square" lIns="0" rIns="0" tIns="0" bIns="0" anchor="t">
            <a:spAutoFit/>
          </a:bodyPr>
          <a:lstStyle/>
          <a:p>
            <a:pPr algn="l"/>
            <a:r>
              <a:rPr sz="2000" b="0" i="0">
                <a:solidFill>
                  <a:srgbClr val="C9D3E3"/>
                </a:solidFill>
                <a:latin typeface="Calibri"/>
              </a:rPr>
              <a:t>Matching depends on a feed offset of only 1–2 pixels. ±3° rotation and 2% shift smear exactly that offset.</a:t>
            </a:r>
          </a:p>
        </p:txBody>
      </p:sp>
      <p:sp>
        <p:nvSpPr>
          <p:cNvPr id="7" name="Rounded Rectangle 6"/>
          <p:cNvSpPr/>
          <p:nvPr/>
        </p:nvSpPr>
        <p:spPr>
          <a:xfrm>
            <a:off x="548640" y="2926080"/>
            <a:ext cx="3593592" cy="2468880"/>
          </a:xfrm>
          <a:prstGeom prst="roundRect">
            <a:avLst>
              <a:gd name="adj" fmla="val 8000"/>
            </a:avLst>
          </a:prstGeom>
          <a:solidFill>
            <a:srgbClr val="1E3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54680"/>
            <a:ext cx="3017520" cy="1005840"/>
          </a:xfrm>
          <a:prstGeom prst="rect">
            <a:avLst/>
          </a:prstGeom>
          <a:noFill/>
        </p:spPr>
        <p:txBody>
          <a:bodyPr wrap="square" lIns="0" rIns="0" tIns="0" bIns="0" anchor="t">
            <a:spAutoFit/>
          </a:bodyPr>
          <a:lstStyle/>
          <a:p>
            <a:pPr algn="l"/>
            <a:r>
              <a:rPr sz="6000" b="1" i="0">
                <a:solidFill>
                  <a:srgbClr val="F4F1EA"/>
                </a:solidFill>
                <a:latin typeface="Cambria"/>
              </a:rPr>
              <a:t>0.582</a:t>
            </a:r>
          </a:p>
        </p:txBody>
      </p:sp>
      <p:sp>
        <p:nvSpPr>
          <p:cNvPr id="9" name="TextBox 8"/>
          <p:cNvSpPr txBox="1"/>
          <p:nvPr/>
        </p:nvSpPr>
        <p:spPr>
          <a:xfrm>
            <a:off x="868680" y="4251960"/>
            <a:ext cx="3017520" cy="411480"/>
          </a:xfrm>
          <a:prstGeom prst="rect">
            <a:avLst/>
          </a:prstGeom>
          <a:noFill/>
        </p:spPr>
        <p:txBody>
          <a:bodyPr wrap="square" lIns="0" rIns="0" tIns="0" bIns="0" anchor="t">
            <a:spAutoFit/>
          </a:bodyPr>
          <a:lstStyle/>
          <a:p>
            <a:pPr algn="l"/>
            <a:r>
              <a:rPr sz="1700" b="1" i="0">
                <a:solidFill>
                  <a:srgbClr val="F4F1EA"/>
                </a:solidFill>
                <a:latin typeface="Calibri"/>
              </a:rPr>
              <a:t>Pre-registered ViT</a:t>
            </a:r>
          </a:p>
        </p:txBody>
      </p:sp>
      <p:sp>
        <p:nvSpPr>
          <p:cNvPr id="10" name="TextBox 9"/>
          <p:cNvSpPr txBox="1"/>
          <p:nvPr/>
        </p:nvSpPr>
        <p:spPr>
          <a:xfrm>
            <a:off x="868680" y="4663440"/>
            <a:ext cx="3017520" cy="548640"/>
          </a:xfrm>
          <a:prstGeom prst="rect">
            <a:avLst/>
          </a:prstGeom>
          <a:noFill/>
        </p:spPr>
        <p:txBody>
          <a:bodyPr wrap="square" lIns="0" rIns="0" tIns="0" bIns="0" anchor="t">
            <a:spAutoFit/>
          </a:bodyPr>
          <a:lstStyle/>
          <a:p>
            <a:pPr algn="l"/>
            <a:r>
              <a:rPr sz="1400" b="0" i="0">
                <a:solidFill>
                  <a:srgbClr val="C9D3E3"/>
                </a:solidFill>
                <a:latin typeface="Calibri"/>
              </a:rPr>
              <a:t>with ±3° / 2% augmentation</a:t>
            </a:r>
          </a:p>
        </p:txBody>
      </p:sp>
      <p:sp>
        <p:nvSpPr>
          <p:cNvPr id="11" name="Rounded Rectangle 10"/>
          <p:cNvSpPr/>
          <p:nvPr/>
        </p:nvSpPr>
        <p:spPr>
          <a:xfrm>
            <a:off x="4297679" y="2926080"/>
            <a:ext cx="3593592" cy="2468880"/>
          </a:xfrm>
          <a:prstGeom prst="roundRect">
            <a:avLst>
              <a:gd name="adj" fmla="val 8000"/>
            </a:avLst>
          </a:prstGeom>
          <a:solidFill>
            <a:srgbClr val="1E3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19" y="3154680"/>
            <a:ext cx="3017520" cy="1005840"/>
          </a:xfrm>
          <a:prstGeom prst="rect">
            <a:avLst/>
          </a:prstGeom>
          <a:noFill/>
        </p:spPr>
        <p:txBody>
          <a:bodyPr wrap="square" lIns="0" rIns="0" tIns="0" bIns="0" anchor="t">
            <a:spAutoFit/>
          </a:bodyPr>
          <a:lstStyle/>
          <a:p>
            <a:pPr algn="l"/>
            <a:r>
              <a:rPr sz="6000" b="1" i="0">
                <a:solidFill>
                  <a:srgbClr val="E2A96B"/>
                </a:solidFill>
                <a:latin typeface="Cambria"/>
              </a:rPr>
              <a:t>0.725</a:t>
            </a:r>
          </a:p>
        </p:txBody>
      </p:sp>
      <p:sp>
        <p:nvSpPr>
          <p:cNvPr id="13" name="TextBox 12"/>
          <p:cNvSpPr txBox="1"/>
          <p:nvPr/>
        </p:nvSpPr>
        <p:spPr>
          <a:xfrm>
            <a:off x="4617719" y="4251960"/>
            <a:ext cx="3017520" cy="411480"/>
          </a:xfrm>
          <a:prstGeom prst="rect">
            <a:avLst/>
          </a:prstGeom>
          <a:noFill/>
        </p:spPr>
        <p:txBody>
          <a:bodyPr wrap="square" lIns="0" rIns="0" tIns="0" bIns="0" anchor="t">
            <a:spAutoFit/>
          </a:bodyPr>
          <a:lstStyle/>
          <a:p>
            <a:pPr algn="l"/>
            <a:r>
              <a:rPr sz="1700" b="1" i="0">
                <a:solidFill>
                  <a:srgbClr val="F4F1EA"/>
                </a:solidFill>
                <a:latin typeface="Calibri"/>
              </a:rPr>
              <a:t>Same ViT, no augmentation</a:t>
            </a:r>
          </a:p>
        </p:txBody>
      </p:sp>
      <p:sp>
        <p:nvSpPr>
          <p:cNvPr id="14" name="TextBox 13"/>
          <p:cNvSpPr txBox="1"/>
          <p:nvPr/>
        </p:nvSpPr>
        <p:spPr>
          <a:xfrm>
            <a:off x="4617719" y="4663440"/>
            <a:ext cx="3017520" cy="548640"/>
          </a:xfrm>
          <a:prstGeom prst="rect">
            <a:avLst/>
          </a:prstGeom>
          <a:noFill/>
        </p:spPr>
        <p:txBody>
          <a:bodyPr wrap="square" lIns="0" rIns="0" tIns="0" bIns="0" anchor="t">
            <a:spAutoFit/>
          </a:bodyPr>
          <a:lstStyle/>
          <a:p>
            <a:pPr algn="l"/>
            <a:r>
              <a:rPr sz="1400" b="0" i="0">
                <a:solidFill>
                  <a:srgbClr val="C9D3E3"/>
                </a:solidFill>
                <a:latin typeface="Calibri"/>
              </a:rPr>
              <a:t>level with the frozen probe</a:t>
            </a:r>
          </a:p>
        </p:txBody>
      </p:sp>
      <p:sp>
        <p:nvSpPr>
          <p:cNvPr id="15" name="Rounded Rectangle 14"/>
          <p:cNvSpPr/>
          <p:nvPr/>
        </p:nvSpPr>
        <p:spPr>
          <a:xfrm>
            <a:off x="8046719" y="2926080"/>
            <a:ext cx="3593592" cy="2468880"/>
          </a:xfrm>
          <a:prstGeom prst="roundRect">
            <a:avLst>
              <a:gd name="adj" fmla="val 8000"/>
            </a:avLst>
          </a:prstGeom>
          <a:solidFill>
            <a:srgbClr val="1E3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3154680"/>
            <a:ext cx="3017520" cy="1005840"/>
          </a:xfrm>
          <a:prstGeom prst="rect">
            <a:avLst/>
          </a:prstGeom>
          <a:noFill/>
        </p:spPr>
        <p:txBody>
          <a:bodyPr wrap="square" lIns="0" rIns="0" tIns="0" bIns="0" anchor="t">
            <a:spAutoFit/>
          </a:bodyPr>
          <a:lstStyle/>
          <a:p>
            <a:pPr algn="l"/>
            <a:r>
              <a:rPr sz="6000" b="1" i="0">
                <a:solidFill>
                  <a:srgbClr val="E2A96B"/>
                </a:solidFill>
                <a:latin typeface="Cambria"/>
              </a:rPr>
              <a:t>0.775</a:t>
            </a:r>
          </a:p>
        </p:txBody>
      </p:sp>
      <p:sp>
        <p:nvSpPr>
          <p:cNvPr id="17" name="TextBox 16"/>
          <p:cNvSpPr txBox="1"/>
          <p:nvPr/>
        </p:nvSpPr>
        <p:spPr>
          <a:xfrm>
            <a:off x="8366759" y="4251960"/>
            <a:ext cx="3017520" cy="411480"/>
          </a:xfrm>
          <a:prstGeom prst="rect">
            <a:avLst/>
          </a:prstGeom>
          <a:noFill/>
        </p:spPr>
        <p:txBody>
          <a:bodyPr wrap="square" lIns="0" rIns="0" tIns="0" bIns="0" anchor="t">
            <a:spAutoFit/>
          </a:bodyPr>
          <a:lstStyle/>
          <a:p>
            <a:pPr algn="l"/>
            <a:r>
              <a:rPr sz="1700" b="1" i="0">
                <a:solidFill>
                  <a:srgbClr val="F4F1EA"/>
                </a:solidFill>
                <a:latin typeface="Calibri"/>
              </a:rPr>
              <a:t>MLP on fine-tuned ViT features</a:t>
            </a:r>
          </a:p>
        </p:txBody>
      </p:sp>
      <p:sp>
        <p:nvSpPr>
          <p:cNvPr id="18" name="TextBox 17"/>
          <p:cNvSpPr txBox="1"/>
          <p:nvPr/>
        </p:nvSpPr>
        <p:spPr>
          <a:xfrm>
            <a:off x="8366759" y="4663440"/>
            <a:ext cx="3017520" cy="548640"/>
          </a:xfrm>
          <a:prstGeom prst="rect">
            <a:avLst/>
          </a:prstGeom>
          <a:noFill/>
        </p:spPr>
        <p:txBody>
          <a:bodyPr wrap="square" lIns="0" rIns="0" tIns="0" bIns="0" anchor="t">
            <a:spAutoFit/>
          </a:bodyPr>
          <a:lstStyle/>
          <a:p>
            <a:pPr algn="l"/>
            <a:r>
              <a:rPr sz="1400" b="0" i="0">
                <a:solidFill>
                  <a:srgbClr val="C9D3E3"/>
                </a:solidFill>
                <a:latin typeface="Calibri"/>
              </a:rPr>
              <a:t>the features carry the signal</a:t>
            </a:r>
          </a:p>
        </p:txBody>
      </p:sp>
      <p:sp>
        <p:nvSpPr>
          <p:cNvPr id="19" name="TextBox 18"/>
          <p:cNvSpPr txBox="1"/>
          <p:nvPr/>
        </p:nvSpPr>
        <p:spPr>
          <a:xfrm>
            <a:off x="548640" y="5669280"/>
            <a:ext cx="10972800" cy="365760"/>
          </a:xfrm>
          <a:prstGeom prst="rect">
            <a:avLst/>
          </a:prstGeom>
          <a:noFill/>
        </p:spPr>
        <p:txBody>
          <a:bodyPr wrap="square" lIns="0" rIns="0" tIns="0" bIns="0" anchor="t">
            <a:spAutoFit/>
          </a:bodyPr>
          <a:lstStyle/>
          <a:p>
            <a:pPr algn="l"/>
            <a:r>
              <a:rPr sz="1200" b="0" i="1">
                <a:solidFill>
                  <a:srgbClr val="A7AFBC"/>
                </a:solidFill>
                <a:latin typeface="Calibri"/>
              </a:rPr>
              <a:t>Test macro-F1 on the matching task. The last two results are exploratory (single seed).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EXPLAINABILITY</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Attention favours the feed point, and barely the patch</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11 / 13</a:t>
            </a:r>
          </a:p>
        </p:txBody>
      </p:sp>
      <p:pic>
        <p:nvPicPr>
          <p:cNvPr id="6" name="Picture 5" descr="attention_rollout_examples.png"/>
          <p:cNvPicPr>
            <a:picLocks noChangeAspect="1"/>
          </p:cNvPicPr>
          <p:nvPr/>
        </p:nvPicPr>
        <p:blipFill>
          <a:blip r:embed="rId3"/>
          <a:stretch>
            <a:fillRect/>
          </a:stretch>
        </p:blipFill>
        <p:spPr>
          <a:xfrm>
            <a:off x="548640" y="1600200"/>
            <a:ext cx="11091672" cy="3556569"/>
          </a:xfrm>
          <a:prstGeom prst="rect">
            <a:avLst/>
          </a:prstGeom>
        </p:spPr>
      </p:pic>
      <p:sp>
        <p:nvSpPr>
          <p:cNvPr id="7" name="TextBox 6"/>
          <p:cNvSpPr txBox="1"/>
          <p:nvPr/>
        </p:nvSpPr>
        <p:spPr>
          <a:xfrm>
            <a:off x="548640" y="5349240"/>
            <a:ext cx="1463040" cy="640080"/>
          </a:xfrm>
          <a:prstGeom prst="rect">
            <a:avLst/>
          </a:prstGeom>
          <a:noFill/>
        </p:spPr>
        <p:txBody>
          <a:bodyPr wrap="square" lIns="0" rIns="0" tIns="0" bIns="0" anchor="ctr">
            <a:spAutoFit/>
          </a:bodyPr>
          <a:lstStyle/>
          <a:p>
            <a:pPr algn="l"/>
            <a:r>
              <a:rPr sz="3200" b="1" i="0">
                <a:solidFill>
                  <a:srgbClr val="9A5A1F"/>
                </a:solidFill>
                <a:latin typeface="Cambria"/>
              </a:rPr>
              <a:t>1.41×</a:t>
            </a:r>
          </a:p>
        </p:txBody>
      </p:sp>
      <p:sp>
        <p:nvSpPr>
          <p:cNvPr id="8" name="TextBox 7"/>
          <p:cNvSpPr txBox="1"/>
          <p:nvPr/>
        </p:nvSpPr>
        <p:spPr>
          <a:xfrm>
            <a:off x="2057400" y="5349240"/>
            <a:ext cx="2103120" cy="685800"/>
          </a:xfrm>
          <a:prstGeom prst="rect">
            <a:avLst/>
          </a:prstGeom>
          <a:noFill/>
        </p:spPr>
        <p:txBody>
          <a:bodyPr wrap="square" lIns="0" rIns="0" tIns="0" bIns="0" anchor="ctr">
            <a:spAutoFit/>
          </a:bodyPr>
          <a:lstStyle/>
          <a:p>
            <a:pPr algn="l"/>
            <a:r>
              <a:rPr sz="1200" b="0" i="0">
                <a:solidFill>
                  <a:srgbClr val="465166"/>
                </a:solidFill>
                <a:latin typeface="Calibri"/>
              </a:rPr>
              <a:t>feed attention vs its area share; above 1 for every test design</a:t>
            </a:r>
          </a:p>
        </p:txBody>
      </p:sp>
      <p:sp>
        <p:nvSpPr>
          <p:cNvPr id="9" name="TextBox 8"/>
          <p:cNvSpPr txBox="1"/>
          <p:nvPr/>
        </p:nvSpPr>
        <p:spPr>
          <a:xfrm>
            <a:off x="4297679" y="5349240"/>
            <a:ext cx="1463040" cy="640080"/>
          </a:xfrm>
          <a:prstGeom prst="rect">
            <a:avLst/>
          </a:prstGeom>
          <a:noFill/>
        </p:spPr>
        <p:txBody>
          <a:bodyPr wrap="square" lIns="0" rIns="0" tIns="0" bIns="0" anchor="ctr">
            <a:spAutoFit/>
          </a:bodyPr>
          <a:lstStyle/>
          <a:p>
            <a:pPr algn="l"/>
            <a:r>
              <a:rPr sz="3200" b="1" i="0">
                <a:solidFill>
                  <a:srgbClr val="9A5A1F"/>
                </a:solidFill>
                <a:latin typeface="Cambria"/>
              </a:rPr>
              <a:t>1.03×</a:t>
            </a:r>
          </a:p>
        </p:txBody>
      </p:sp>
      <p:sp>
        <p:nvSpPr>
          <p:cNvPr id="10" name="TextBox 9"/>
          <p:cNvSpPr txBox="1"/>
          <p:nvPr/>
        </p:nvSpPr>
        <p:spPr>
          <a:xfrm>
            <a:off x="5806440" y="5349240"/>
            <a:ext cx="2103120" cy="685800"/>
          </a:xfrm>
          <a:prstGeom prst="rect">
            <a:avLst/>
          </a:prstGeom>
          <a:noFill/>
        </p:spPr>
        <p:txBody>
          <a:bodyPr wrap="square" lIns="0" rIns="0" tIns="0" bIns="0" anchor="ctr">
            <a:spAutoFit/>
          </a:bodyPr>
          <a:lstStyle/>
          <a:p>
            <a:pPr algn="l"/>
            <a:r>
              <a:rPr sz="1200" b="0" i="0">
                <a:solidFill>
                  <a:srgbClr val="465166"/>
                </a:solidFill>
                <a:latin typeface="Calibri"/>
              </a:rPr>
              <a:t>patch attention vs its area share: almost no preference</a:t>
            </a:r>
          </a:p>
        </p:txBody>
      </p:sp>
      <p:sp>
        <p:nvSpPr>
          <p:cNvPr id="11" name="TextBox 10"/>
          <p:cNvSpPr txBox="1"/>
          <p:nvPr/>
        </p:nvSpPr>
        <p:spPr>
          <a:xfrm>
            <a:off x="8046719" y="5349240"/>
            <a:ext cx="1463040" cy="640080"/>
          </a:xfrm>
          <a:prstGeom prst="rect">
            <a:avLst/>
          </a:prstGeom>
          <a:noFill/>
        </p:spPr>
        <p:txBody>
          <a:bodyPr wrap="square" lIns="0" rIns="0" tIns="0" bIns="0" anchor="ctr">
            <a:spAutoFit/>
          </a:bodyPr>
          <a:lstStyle/>
          <a:p>
            <a:pPr algn="l"/>
            <a:r>
              <a:rPr sz="3200" b="1" i="0">
                <a:solidFill>
                  <a:srgbClr val="9A5A1F"/>
                </a:solidFill>
                <a:latin typeface="Cambria"/>
              </a:rPr>
              <a:t>51%</a:t>
            </a:r>
          </a:p>
        </p:txBody>
      </p:sp>
      <p:sp>
        <p:nvSpPr>
          <p:cNvPr id="12" name="TextBox 11"/>
          <p:cNvSpPr txBox="1"/>
          <p:nvPr/>
        </p:nvSpPr>
        <p:spPr>
          <a:xfrm>
            <a:off x="9555480" y="5349240"/>
            <a:ext cx="2103120" cy="685800"/>
          </a:xfrm>
          <a:prstGeom prst="rect">
            <a:avLst/>
          </a:prstGeom>
          <a:noFill/>
        </p:spPr>
        <p:txBody>
          <a:bodyPr wrap="square" lIns="0" rIns="0" tIns="0" bIns="0" anchor="ctr">
            <a:spAutoFit/>
          </a:bodyPr>
          <a:lstStyle/>
          <a:p>
            <a:pPr algn="l"/>
            <a:r>
              <a:rPr sz="1200" b="0" i="0">
                <a:solidFill>
                  <a:srgbClr val="465166"/>
                </a:solidFill>
                <a:latin typeface="Calibri"/>
              </a:rPr>
              <a:t>of attention falls on the top, absolute-scale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9A5A1F"/>
                </a:solidFill>
                <a:latin typeface="Calibri"/>
              </a:rPr>
              <a:t>ROBUSTNESS</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14213D"/>
                </a:solidFill>
                <a:latin typeface="Cambria"/>
              </a:rPr>
              <a:t>Blur and colour changes hurt most</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6B7586"/>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6B7586"/>
                </a:solidFill>
                <a:latin typeface="Calibri"/>
              </a:rPr>
              <a:t>12 / 13</a:t>
            </a:r>
          </a:p>
        </p:txBody>
      </p:sp>
      <p:graphicFrame>
        <p:nvGraphicFramePr>
          <p:cNvPr id="6" name="Chart 5"/>
          <p:cNvGraphicFramePr>
            <a:graphicFrameLocks noGrp="1"/>
          </p:cNvGraphicFramePr>
          <p:nvPr/>
        </p:nvGraphicFramePr>
        <p:xfrm>
          <a:off x="548640" y="1600200"/>
          <a:ext cx="6949440" cy="448056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91640"/>
            <a:ext cx="3776472" cy="1737360"/>
          </a:xfrm>
          <a:prstGeom prst="roundRect">
            <a:avLst>
              <a:gd name="adj" fmla="val 8000"/>
            </a:avLst>
          </a:prstGeom>
          <a:solidFill>
            <a:srgbClr val="F1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920240"/>
            <a:ext cx="3227832" cy="411480"/>
          </a:xfrm>
          <a:prstGeom prst="rect">
            <a:avLst/>
          </a:prstGeom>
          <a:noFill/>
        </p:spPr>
        <p:txBody>
          <a:bodyPr wrap="square" lIns="0" rIns="0" tIns="0" bIns="0" anchor="t">
            <a:spAutoFit/>
          </a:bodyPr>
          <a:lstStyle/>
          <a:p>
            <a:pPr algn="l"/>
            <a:r>
              <a:rPr sz="1800" b="1" i="0">
                <a:solidFill>
                  <a:srgbClr val="14213D"/>
                </a:solidFill>
                <a:latin typeface="Calibri"/>
              </a:rPr>
              <a:t>Stable</a:t>
            </a:r>
          </a:p>
        </p:txBody>
      </p:sp>
      <p:sp>
        <p:nvSpPr>
          <p:cNvPr id="9" name="TextBox 8"/>
          <p:cNvSpPr txBox="1"/>
          <p:nvPr/>
        </p:nvSpPr>
        <p:spPr>
          <a:xfrm>
            <a:off x="8138160" y="2423160"/>
            <a:ext cx="3227832" cy="822959"/>
          </a:xfrm>
          <a:prstGeom prst="rect">
            <a:avLst/>
          </a:prstGeom>
          <a:noFill/>
        </p:spPr>
        <p:txBody>
          <a:bodyPr wrap="square" lIns="0" rIns="0" tIns="0" bIns="0" anchor="t">
            <a:spAutoFit/>
          </a:bodyPr>
          <a:lstStyle/>
          <a:p>
            <a:pPr algn="l">
              <a:spcAft>
                <a:spcPts val="600"/>
              </a:spcAft>
            </a:pPr>
            <a:r>
              <a:rPr sz="1400" b="0" i="0">
                <a:solidFill>
                  <a:srgbClr val="465166"/>
                </a:solidFill>
                <a:latin typeface="Calibri"/>
              </a:rPr>
              <a:t>Shift, rotation, contrast and JPEG: 0.575–0.615, against 0.581 clean.</a:t>
            </a:r>
          </a:p>
        </p:txBody>
      </p:sp>
      <p:sp>
        <p:nvSpPr>
          <p:cNvPr id="10" name="Rounded Rectangle 9"/>
          <p:cNvSpPr/>
          <p:nvPr/>
        </p:nvSpPr>
        <p:spPr>
          <a:xfrm>
            <a:off x="7863840" y="3611880"/>
            <a:ext cx="3776472" cy="2103120"/>
          </a:xfrm>
          <a:prstGeom prst="roundRect">
            <a:avLst>
              <a:gd name="adj" fmla="val 8000"/>
            </a:avLst>
          </a:prstGeom>
          <a:solidFill>
            <a:srgbClr val="FA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3840480"/>
            <a:ext cx="3227832" cy="411480"/>
          </a:xfrm>
          <a:prstGeom prst="rect">
            <a:avLst/>
          </a:prstGeom>
          <a:noFill/>
        </p:spPr>
        <p:txBody>
          <a:bodyPr wrap="square" lIns="0" rIns="0" tIns="0" bIns="0" anchor="t">
            <a:spAutoFit/>
          </a:bodyPr>
          <a:lstStyle/>
          <a:p>
            <a:pPr algn="l"/>
            <a:r>
              <a:rPr sz="1800" b="1" i="0">
                <a:solidFill>
                  <a:srgbClr val="9A5A1F"/>
                </a:solidFill>
                <a:latin typeface="Calibri"/>
              </a:rPr>
              <a:t>Fragile</a:t>
            </a:r>
          </a:p>
        </p:txBody>
      </p:sp>
      <p:sp>
        <p:nvSpPr>
          <p:cNvPr id="12" name="TextBox 11"/>
          <p:cNvSpPr txBox="1"/>
          <p:nvPr/>
        </p:nvSpPr>
        <p:spPr>
          <a:xfrm>
            <a:off x="8138160" y="4343400"/>
            <a:ext cx="3227832" cy="1188719"/>
          </a:xfrm>
          <a:prstGeom prst="rect">
            <a:avLst/>
          </a:prstGeom>
          <a:noFill/>
        </p:spPr>
        <p:txBody>
          <a:bodyPr wrap="square" lIns="0" rIns="0" tIns="0" bIns="0" anchor="t">
            <a:spAutoFit/>
          </a:bodyPr>
          <a:lstStyle/>
          <a:p>
            <a:pPr algn="l">
              <a:spcAft>
                <a:spcPts val="600"/>
              </a:spcAft>
            </a:pPr>
            <a:r>
              <a:rPr sz="1400" b="0" i="0">
                <a:solidFill>
                  <a:srgbClr val="465166"/>
                </a:solidFill>
                <a:latin typeface="Calibri"/>
              </a:rPr>
              <a:t>Blur 0.526 and grey colouring 0.521.</a:t>
            </a:r>
          </a:p>
          <a:p>
            <a:pPr algn="l">
              <a:spcAft>
                <a:spcPts val="600"/>
              </a:spcAft>
            </a:pPr>
            <a:r>
              <a:rPr sz="1400" b="0" i="0">
                <a:solidFill>
                  <a:srgbClr val="465166"/>
                </a:solidFill>
                <a:latin typeface="Calibri"/>
              </a:rPr>
              <a:t>Both remove the feed detail or the colour cue the model relies 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Eyebrow"/>
          <p:cNvSpPr txBox="1"/>
          <p:nvPr/>
        </p:nvSpPr>
        <p:spPr>
          <a:xfrm>
            <a:off x="548640" y="384048"/>
            <a:ext cx="11064240" cy="274320"/>
          </a:xfrm>
          <a:prstGeom prst="rect">
            <a:avLst/>
          </a:prstGeom>
          <a:noFill/>
        </p:spPr>
        <p:txBody>
          <a:bodyPr wrap="square" lIns="0" rIns="0" tIns="0" bIns="0" anchor="t">
            <a:spAutoFit/>
          </a:bodyPr>
          <a:lstStyle/>
          <a:p>
            <a:pPr algn="l"/>
            <a:r>
              <a:rPr sz="1200" b="1" i="0">
                <a:solidFill>
                  <a:srgbClr val="E2A96B"/>
                </a:solidFill>
                <a:latin typeface="Calibri"/>
              </a:rPr>
              <a:t>OUTLOOK</a:t>
            </a:r>
          </a:p>
        </p:txBody>
      </p:sp>
      <p:sp>
        <p:nvSpPr>
          <p:cNvPr id="3" name="Title"/>
          <p:cNvSpPr txBox="1"/>
          <p:nvPr/>
        </p:nvSpPr>
        <p:spPr>
          <a:xfrm>
            <a:off x="548640" y="658368"/>
            <a:ext cx="11064240" cy="822960"/>
          </a:xfrm>
          <a:prstGeom prst="rect">
            <a:avLst/>
          </a:prstGeom>
          <a:noFill/>
        </p:spPr>
        <p:txBody>
          <a:bodyPr wrap="square" lIns="0" rIns="0" tIns="0" bIns="0" anchor="t">
            <a:spAutoFit/>
          </a:bodyPr>
          <a:lstStyle/>
          <a:p>
            <a:pPr algn="l"/>
            <a:r>
              <a:rPr sz="3200" b="1" i="0">
                <a:solidFill>
                  <a:srgbClr val="F4F1EA"/>
                </a:solidFill>
                <a:latin typeface="Cambria"/>
              </a:rPr>
              <a:t>What Module 1 shows, and what it does not yet show</a:t>
            </a:r>
          </a:p>
        </p:txBody>
      </p:sp>
      <p:sp>
        <p:nvSpPr>
          <p:cNvPr id="4" name="Footer"/>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A7AFBC"/>
                </a:solidFill>
                <a:latin typeface="Calibri"/>
              </a:rPr>
              <a:t>Module 1 · Vision Transformer for antenna screening</a:t>
            </a:r>
          </a:p>
        </p:txBody>
      </p:sp>
      <p:sp>
        <p:nvSpPr>
          <p:cNvPr id="5" name="Page number"/>
          <p:cNvSpPr txBox="1"/>
          <p:nvPr/>
        </p:nvSpPr>
        <p:spPr>
          <a:xfrm>
            <a:off x="10725912" y="6400800"/>
            <a:ext cx="914400" cy="228600"/>
          </a:xfrm>
          <a:prstGeom prst="rect">
            <a:avLst/>
          </a:prstGeom>
          <a:noFill/>
        </p:spPr>
        <p:txBody>
          <a:bodyPr wrap="square" lIns="0" rIns="0" tIns="0" bIns="0" anchor="t">
            <a:spAutoFit/>
          </a:bodyPr>
          <a:lstStyle/>
          <a:p>
            <a:pPr algn="r"/>
            <a:r>
              <a:rPr sz="1000" b="0" i="0">
                <a:solidFill>
                  <a:srgbClr val="A7AFBC"/>
                </a:solidFill>
                <a:latin typeface="Calibri"/>
              </a:rPr>
              <a:t>13 / 13</a:t>
            </a:r>
          </a:p>
        </p:txBody>
      </p:sp>
      <p:sp>
        <p:nvSpPr>
          <p:cNvPr id="6" name="Rounded Rectangle 5"/>
          <p:cNvSpPr/>
          <p:nvPr/>
        </p:nvSpPr>
        <p:spPr>
          <a:xfrm>
            <a:off x="548640" y="1691640"/>
            <a:ext cx="5404104" cy="3611880"/>
          </a:xfrm>
          <a:prstGeom prst="roundRect">
            <a:avLst>
              <a:gd name="adj" fmla="val 8000"/>
            </a:avLst>
          </a:prstGeom>
          <a:solidFill>
            <a:srgbClr val="1E3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411480"/>
          </a:xfrm>
          <a:prstGeom prst="rect">
            <a:avLst/>
          </a:prstGeom>
          <a:noFill/>
        </p:spPr>
        <p:txBody>
          <a:bodyPr wrap="square" lIns="0" rIns="0" tIns="0" bIns="0" anchor="t">
            <a:spAutoFit/>
          </a:bodyPr>
          <a:lstStyle/>
          <a:p>
            <a:pPr algn="l"/>
            <a:r>
              <a:rPr sz="2000" b="1" i="0">
                <a:solidFill>
                  <a:srgbClr val="F4F1EA"/>
                </a:solidFill>
                <a:latin typeface="Calibri"/>
              </a:rPr>
              <a:t>Limitations</a:t>
            </a:r>
          </a:p>
        </p:txBody>
      </p:sp>
      <p:sp>
        <p:nvSpPr>
          <p:cNvPr id="8" name="TextBox 7"/>
          <p:cNvSpPr txBox="1"/>
          <p:nvPr/>
        </p:nvSpPr>
        <p:spPr>
          <a:xfrm>
            <a:off x="822960" y="2468880"/>
            <a:ext cx="4846320" cy="3566160"/>
          </a:xfrm>
          <a:prstGeom prst="rect">
            <a:avLst/>
          </a:prstGeom>
          <a:noFill/>
        </p:spPr>
        <p:txBody>
          <a:bodyPr wrap="square" lIns="0" rIns="0" tIns="0" bIns="0" anchor="t">
            <a:spAutoFit/>
          </a:bodyPr>
          <a:lstStyle/>
          <a:p>
            <a:pPr algn="l">
              <a:spcAft>
                <a:spcPts val="900"/>
              </a:spcAft>
            </a:pPr>
            <a:r>
              <a:rPr sz="1500" b="0" i="0">
                <a:solidFill>
                  <a:srgbClr val="C9D3E3"/>
                </a:solidFill>
                <a:latin typeface="Calibri"/>
              </a:rPr>
              <a:t>No HFSS: all results are openEMS or synthetic</a:t>
            </a:r>
          </a:p>
          <a:p>
            <a:pPr algn="l">
              <a:spcAft>
                <a:spcPts val="900"/>
              </a:spcAft>
            </a:pPr>
            <a:r>
              <a:rPr sz="1500" b="0" i="0">
                <a:solidFill>
                  <a:srgbClr val="C9D3E3"/>
                </a:solidFill>
                <a:latin typeface="Calibri"/>
              </a:rPr>
              <a:t>Plain coax-fed patches; no slots or DGS</a:t>
            </a:r>
          </a:p>
          <a:p>
            <a:pPr algn="l">
              <a:spcAft>
                <a:spcPts val="900"/>
              </a:spcAft>
            </a:pPr>
            <a:r>
              <a:rPr sz="1500" b="0" i="0">
                <a:solidFill>
                  <a:srgbClr val="C9D3E3"/>
                </a:solidFill>
                <a:latin typeface="Calibri"/>
              </a:rPr>
              <a:t>Clean drawings, not noisy solver exports</a:t>
            </a:r>
          </a:p>
          <a:p>
            <a:pPr algn="l">
              <a:spcAft>
                <a:spcPts val="900"/>
              </a:spcAft>
            </a:pPr>
            <a:r>
              <a:rPr sz="1500" b="0" i="0">
                <a:solidFill>
                  <a:srgbClr val="C9D3E3"/>
                </a:solidFill>
                <a:latin typeface="Calibri"/>
              </a:rPr>
              <a:t>No surface-current or E-field images</a:t>
            </a:r>
          </a:p>
          <a:p>
            <a:pPr algn="l">
              <a:spcAft>
                <a:spcPts val="900"/>
              </a:spcAft>
            </a:pPr>
            <a:r>
              <a:rPr sz="1500" b="0" i="0">
                <a:solidFill>
                  <a:srgbClr val="C9D3E3"/>
                </a:solidFill>
                <a:latin typeface="Calibri"/>
              </a:rPr>
              <a:t>CPU only; short patience; no hyperparameter search</a:t>
            </a:r>
          </a:p>
          <a:p>
            <a:pPr algn="l">
              <a:spcAft>
                <a:spcPts val="900"/>
              </a:spcAft>
            </a:pPr>
            <a:r>
              <a:rPr sz="1500" b="0" i="0">
                <a:solidFill>
                  <a:srgbClr val="C9D3E3"/>
                </a:solidFill>
                <a:latin typeface="Calibri"/>
              </a:rPr>
              <a:t>Attention is attribution, not physics</a:t>
            </a:r>
          </a:p>
        </p:txBody>
      </p:sp>
      <p:sp>
        <p:nvSpPr>
          <p:cNvPr id="9" name="Rounded Rectangle 8"/>
          <p:cNvSpPr/>
          <p:nvPr/>
        </p:nvSpPr>
        <p:spPr>
          <a:xfrm>
            <a:off x="6236208" y="1691640"/>
            <a:ext cx="5404104" cy="3611880"/>
          </a:xfrm>
          <a:prstGeom prst="roundRect">
            <a:avLst>
              <a:gd name="adj" fmla="val 8000"/>
            </a:avLst>
          </a:prstGeom>
          <a:solidFill>
            <a:srgbClr val="9A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1920240"/>
            <a:ext cx="4846320" cy="411480"/>
          </a:xfrm>
          <a:prstGeom prst="rect">
            <a:avLst/>
          </a:prstGeom>
          <a:noFill/>
        </p:spPr>
        <p:txBody>
          <a:bodyPr wrap="square" lIns="0" rIns="0" tIns="0" bIns="0" anchor="t">
            <a:spAutoFit/>
          </a:bodyPr>
          <a:lstStyle/>
          <a:p>
            <a:pPr algn="l"/>
            <a:r>
              <a:rPr sz="2000" b="1" i="0">
                <a:solidFill>
                  <a:srgbClr val="FFFFFF"/>
                </a:solidFill>
                <a:latin typeface="Calibri"/>
              </a:rPr>
              <a:t>Next steps</a:t>
            </a:r>
          </a:p>
        </p:txBody>
      </p:sp>
      <p:sp>
        <p:nvSpPr>
          <p:cNvPr id="11" name="TextBox 10"/>
          <p:cNvSpPr txBox="1"/>
          <p:nvPr/>
        </p:nvSpPr>
        <p:spPr>
          <a:xfrm>
            <a:off x="6510528" y="2468880"/>
            <a:ext cx="4846320" cy="3566160"/>
          </a:xfrm>
          <a:prstGeom prst="rect">
            <a:avLst/>
          </a:prstGeom>
          <a:noFill/>
        </p:spPr>
        <p:txBody>
          <a:bodyPr wrap="square" lIns="0" rIns="0" tIns="0" bIns="0" anchor="t">
            <a:spAutoFit/>
          </a:bodyPr>
          <a:lstStyle/>
          <a:p>
            <a:pPr algn="l">
              <a:spcAft>
                <a:spcPts val="900"/>
              </a:spcAft>
            </a:pPr>
            <a:r>
              <a:rPr sz="1500" b="0" i="0">
                <a:solidFill>
                  <a:srgbClr val="FFFFFF"/>
                </a:solidFill>
                <a:latin typeface="Calibri"/>
              </a:rPr>
              <a:t>≥1,000 hybrid-slotted DGS designs simulated in HFSS</a:t>
            </a:r>
          </a:p>
          <a:p>
            <a:pPr algn="l">
              <a:spcAft>
                <a:spcPts val="900"/>
              </a:spcAft>
            </a:pPr>
            <a:r>
              <a:rPr sz="1500" b="0" i="0">
                <a:solidFill>
                  <a:srgbClr val="FFFFFF"/>
                </a:solidFill>
                <a:latin typeface="Calibri"/>
              </a:rPr>
              <a:t>Geometry, surface-current and E-field images at a fixed camera, colour map and scale</a:t>
            </a:r>
          </a:p>
          <a:p>
            <a:pPr algn="l">
              <a:spcAft>
                <a:spcPts val="900"/>
              </a:spcAft>
            </a:pPr>
            <a:r>
              <a:rPr sz="1500" b="0" i="0">
                <a:solidFill>
                  <a:srgbClr val="FFFFFF"/>
                </a:solidFill>
                <a:latin typeface="Calibri"/>
              </a:rPr>
              <a:t>Engineering sign-off on the −20 dB label line</a:t>
            </a:r>
          </a:p>
          <a:p>
            <a:pPr algn="l">
              <a:spcAft>
                <a:spcPts val="900"/>
              </a:spcAft>
            </a:pPr>
            <a:r>
              <a:rPr sz="1500" b="0" i="0">
                <a:solidFill>
                  <a:srgbClr val="FFFFFF"/>
                </a:solidFill>
                <a:latin typeface="Calibri"/>
              </a:rPr>
              <a:t>Hold out whole slot topologies and substrates</a:t>
            </a:r>
          </a:p>
          <a:p>
            <a:pPr algn="l">
              <a:spcAft>
                <a:spcPts val="900"/>
              </a:spcAft>
            </a:pPr>
            <a:r>
              <a:rPr sz="1500" b="0" i="0">
                <a:solidFill>
                  <a:srgbClr val="FFFFFF"/>
                </a:solidFill>
                <a:latin typeface="Calibri"/>
              </a:rPr>
              <a:t>Retrain without augmentation, or with feed-safe augmentation</a:t>
            </a:r>
          </a:p>
        </p:txBody>
      </p:sp>
      <p:sp>
        <p:nvSpPr>
          <p:cNvPr id="12" name="TextBox 11"/>
          <p:cNvSpPr txBox="1"/>
          <p:nvPr/>
        </p:nvSpPr>
        <p:spPr>
          <a:xfrm>
            <a:off x="548640" y="5577840"/>
            <a:ext cx="11091672" cy="457200"/>
          </a:xfrm>
          <a:prstGeom prst="rect">
            <a:avLst/>
          </a:prstGeom>
          <a:noFill/>
        </p:spPr>
        <p:txBody>
          <a:bodyPr wrap="square" lIns="0" rIns="0" tIns="0" bIns="0" anchor="t">
            <a:spAutoFit/>
          </a:bodyPr>
          <a:lstStyle/>
          <a:p>
            <a:pPr algn="l"/>
            <a:r>
              <a:rPr sz="1700" b="1" i="0">
                <a:solidFill>
                  <a:srgbClr val="E2A96B"/>
                </a:solidFill>
                <a:latin typeface="Calibri"/>
              </a:rPr>
              <a:t>Bottom line  </a:t>
            </a:r>
            <a:r>
              <a:rPr sz="1700" b="0" i="0">
                <a:solidFill>
                  <a:srgbClr val="C9D3E3"/>
                </a:solidFill>
                <a:latin typeface="Calibri"/>
              </a:rPr>
              <a:t>Module 1 is a working, reproducible image pipeline, ready to be pointed at HFSS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