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is the image branch of the two-module framework. The question: can a Vision Transformer look at a standardised picture of an antenna and predict how well it is matched, and can it show where it looked? HFSS was not available and no licensed HFSS image dataset of hybrid-slotted DGS antennas exists, so this is a proof of concept on public simulation data. The five hypotheses were committed to Git before any fine-tuned result existed. Reference: Dosovitskiy et al., ICLR 2021.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Datasets were searched in the order the brief sets: Hugging Face, Kaggle, Mendeley, IEEE DataPort, GitHub, plus Zenodo. The openEMS patch sweep gives geometry and full S11 curves; each design is drawn as a two-panel image with fixed colours and no text. RadPat-50K adds a radiation-pattern modality. The tabular Mendeley data were assigned to Module 2. References: LaBash et al. 2025 (arXiv:2505.18188); Bhuma et al. 2025 (doi:10.5281/zenodo.17067881).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224 by 224 image is cut into 196 patches of 16 by 16 pixels. Self-attention lets the feed dot relate to the patch edges anywhere in the image. Three comparators run on the same split: majority class, a compact CNN with 0.25 million parameters, and a frozen-ViT linear probe. Explainability uses attention rollout (Abnar and Zuidema, 2020), scored against analytic patch and feed masks. Deviations for the CPU budget: 4 of 12 blocks unfrozen, patience 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values come from saved metric files of executed runs. Hypothesis outcomes: H1 Supported: matching 0.582 vs 0.269; band 0.685 vs 0.260; H2 Not supported: 0.582 ± 0.008 vs 0.643 ± 0.022; McNemar p = 0.000912 (seed 42); H3 Not supported: 0.582 vs 0.709; McNemar p = 0.00877; H4 Supported: patch ×1.03, feed halo ×1.41 (patch effect negligible); H5 Not supported: OOD 0.679 ± 0.027 vs test 0.582 ± 0.008 (confounded by class balance). The training curves show underfitting. The ablation planned in the Module 1 report found the cause: the augmentation blurred the feed offset that sets matching. Robustness: blur and grey recolouring hurt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Module 1 shows the pipeline works end to end, from rendering through training, testing and explaining. It does not show anything yet about hybrid-slotted DGS antennas; that needs the HFSS dataset described in the Module 1 report. The image embeddings feed Module 2's fusion experiment. References: Dosovitskiy et al. (2021); Abnar and Zuidema (2020); Guo et al. (2017); Darcet et al. (2024); 3GPP TS 38.101-1.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A4A"/>
        </a:solidFill>
        <a:effectLst/>
      </p:bgPr>
    </p:bg>
    <p:spTree>
      <p:nvGrpSpPr>
        <p:cNvPr id="1" name=""/>
        <p:cNvGrpSpPr/>
        <p:nvPr/>
      </p:nvGrpSpPr>
      <p:grpSpPr/>
      <p:sp>
        <p:nvSpPr>
          <p:cNvPr id="2" name="TextBox 1"/>
          <p:cNvSpPr txBox="1"/>
          <p:nvPr/>
        </p:nvSpPr>
        <p:spPr>
          <a:xfrm>
            <a:off x="548640" y="320040"/>
            <a:ext cx="9144000" cy="320040"/>
          </a:xfrm>
          <a:prstGeom prst="rect">
            <a:avLst/>
          </a:prstGeom>
          <a:noFill/>
        </p:spPr>
        <p:txBody>
          <a:bodyPr wrap="square" anchor="t" lIns="45720" rIns="45720">
            <a:spAutoFit/>
          </a:bodyPr>
          <a:lstStyle/>
          <a:p>
            <a:pPr algn="l"/>
            <a:r>
              <a:rPr sz="1200" b="1">
                <a:solidFill>
                  <a:srgbClr val="CFE2F3"/>
                </a:solidFill>
                <a:latin typeface="Calibri"/>
              </a:rPr>
              <a:t>MODULE 1 · IMAGE-BASED VISION TRANSFORMER</a:t>
            </a:r>
          </a:p>
        </p:txBody>
      </p:sp>
      <p:sp>
        <p:nvSpPr>
          <p:cNvPr id="3" name="TextBox 2"/>
          <p:cNvSpPr txBox="1"/>
          <p:nvPr/>
        </p:nvSpPr>
        <p:spPr>
          <a:xfrm>
            <a:off x="548640" y="621792"/>
            <a:ext cx="11064240" cy="731520"/>
          </a:xfrm>
          <a:prstGeom prst="rect">
            <a:avLst/>
          </a:prstGeom>
          <a:noFill/>
        </p:spPr>
        <p:txBody>
          <a:bodyPr wrap="square" anchor="t" lIns="45720" rIns="45720">
            <a:spAutoFit/>
          </a:bodyPr>
          <a:lstStyle/>
          <a:p>
            <a:pPr algn="l"/>
            <a:r>
              <a:rPr sz="3200" b="1">
                <a:solidFill>
                  <a:srgbClr val="FFFFFF"/>
                </a:solidFill>
                <a:latin typeface="Calibri"/>
              </a:rPr>
              <a:t>Can a ViT read antenna performance from an image?</a:t>
            </a:r>
          </a:p>
        </p:txBody>
      </p:sp>
      <p:sp>
        <p:nvSpPr>
          <p:cNvPr id="4" name="TextBox 3"/>
          <p:cNvSpPr txBox="1"/>
          <p:nvPr/>
        </p:nvSpPr>
        <p:spPr>
          <a:xfrm>
            <a:off x="548640" y="6446520"/>
            <a:ext cx="9601200" cy="274320"/>
          </a:xfrm>
          <a:prstGeom prst="rect">
            <a:avLst/>
          </a:prstGeom>
          <a:noFill/>
        </p:spPr>
        <p:txBody>
          <a:bodyPr wrap="square" anchor="t" lIns="45720" rIns="45720">
            <a:spAutoFit/>
          </a:bodyPr>
          <a:lstStyle/>
          <a:p>
            <a:pPr algn="l"/>
            <a:r>
              <a:rPr sz="1000" b="0">
                <a:solidFill>
                  <a:srgbClr val="CFE2F3"/>
                </a:solidFill>
                <a:latin typeface="Calibri"/>
              </a:rPr>
              <a:t>Proof of concept on public simulation data (openEMS, RadPat-50K) · Ansys HFSS not run · results not HFSS-validated</a:t>
            </a:r>
          </a:p>
        </p:txBody>
      </p:sp>
      <p:sp>
        <p:nvSpPr>
          <p:cNvPr id="5" name="TextBox 4"/>
          <p:cNvSpPr txBox="1"/>
          <p:nvPr/>
        </p:nvSpPr>
        <p:spPr>
          <a:xfrm>
            <a:off x="10911535" y="6446520"/>
            <a:ext cx="731520" cy="274320"/>
          </a:xfrm>
          <a:prstGeom prst="rect">
            <a:avLst/>
          </a:prstGeom>
          <a:noFill/>
        </p:spPr>
        <p:txBody>
          <a:bodyPr wrap="square" anchor="t" lIns="45720" rIns="45720">
            <a:spAutoFit/>
          </a:bodyPr>
          <a:lstStyle/>
          <a:p>
            <a:pPr algn="r"/>
            <a:r>
              <a:rPr sz="1000" b="0">
                <a:solidFill>
                  <a:srgbClr val="CFE2F3"/>
                </a:solidFill>
                <a:latin typeface="Calibri"/>
              </a:rPr>
              <a:t>1 / 5</a:t>
            </a:r>
          </a:p>
        </p:txBody>
      </p:sp>
      <p:sp>
        <p:nvSpPr>
          <p:cNvPr id="6" name="TextBox 5"/>
          <p:cNvSpPr txBox="1"/>
          <p:nvPr/>
        </p:nvSpPr>
        <p:spPr>
          <a:xfrm>
            <a:off x="548640" y="1371600"/>
            <a:ext cx="6766560" cy="822960"/>
          </a:xfrm>
          <a:prstGeom prst="rect">
            <a:avLst/>
          </a:prstGeom>
          <a:noFill/>
        </p:spPr>
        <p:txBody>
          <a:bodyPr wrap="square" anchor="t" lIns="45720" rIns="45720">
            <a:spAutoFit/>
          </a:bodyPr>
          <a:lstStyle/>
          <a:p>
            <a:pPr algn="l"/>
            <a:r>
              <a:rPr sz="1600" b="0">
                <a:solidFill>
                  <a:srgbClr val="CFE2F3"/>
                </a:solidFill>
                <a:latin typeface="Calibri"/>
              </a:rPr>
              <a:t>Vision Transformer-based visual analysis of hybrid-slotted DGS compact patch antennas for 5G and emerging 6G networks</a:t>
            </a:r>
          </a:p>
        </p:txBody>
      </p:sp>
      <p:sp>
        <p:nvSpPr>
          <p:cNvPr id="7" name="Rounded Rectangle 6"/>
          <p:cNvSpPr/>
          <p:nvPr/>
        </p:nvSpPr>
        <p:spPr>
          <a:xfrm>
            <a:off x="548640" y="2240280"/>
            <a:ext cx="6766560" cy="393192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377440"/>
            <a:ext cx="6400800" cy="365760"/>
          </a:xfrm>
          <a:prstGeom prst="rect">
            <a:avLst/>
          </a:prstGeom>
          <a:noFill/>
        </p:spPr>
        <p:txBody>
          <a:bodyPr wrap="square" anchor="t" lIns="45720" rIns="45720">
            <a:spAutoFit/>
          </a:bodyPr>
          <a:lstStyle/>
          <a:p>
            <a:pPr algn="l"/>
            <a:r>
              <a:rPr sz="1800" b="1">
                <a:solidFill>
                  <a:srgbClr val="FFFFFF"/>
                </a:solidFill>
                <a:latin typeface="Calibri"/>
              </a:rPr>
              <a:t>Problem, gap and objective</a:t>
            </a:r>
          </a:p>
        </p:txBody>
      </p:sp>
      <p:sp>
        <p:nvSpPr>
          <p:cNvPr id="9" name="TextBox 8"/>
          <p:cNvSpPr txBox="1"/>
          <p:nvPr/>
        </p:nvSpPr>
        <p:spPr>
          <a:xfrm>
            <a:off x="777240" y="2834640"/>
            <a:ext cx="6400800" cy="329184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Slots and DGS reshape surface currents: small geometry changes shift resonance and matching</a:t>
            </a:r>
          </a:p>
          <a:p>
            <a:pPr>
              <a:spcAft>
                <a:spcPts val="600"/>
              </a:spcAft>
            </a:pPr>
            <a:r>
              <a:rPr sz="1500">
                <a:solidFill>
                  <a:srgbClr val="2F6FAE"/>
                </a:solidFill>
                <a:latin typeface="Calibri"/>
              </a:rPr>
              <a:t>▪  </a:t>
            </a:r>
            <a:r>
              <a:rPr sz="1500" b="0">
                <a:solidFill>
                  <a:srgbClr val="FFFFFF"/>
                </a:solidFill>
                <a:latin typeface="Calibri"/>
              </a:rPr>
              <a:t>Full-wave sweeps (HFSS) are slow; most ML antenna studies use tables only</a:t>
            </a:r>
          </a:p>
          <a:p>
            <a:pPr>
              <a:spcAft>
                <a:spcPts val="600"/>
              </a:spcAft>
            </a:pPr>
            <a:r>
              <a:rPr sz="1500">
                <a:solidFill>
                  <a:srgbClr val="2F6FAE"/>
                </a:solidFill>
                <a:latin typeface="Calibri"/>
              </a:rPr>
              <a:t>▪  </a:t>
            </a:r>
            <a:r>
              <a:rPr sz="1500" b="0">
                <a:solidFill>
                  <a:srgbClr val="FFFFFF"/>
                </a:solidFill>
                <a:latin typeface="Calibri"/>
              </a:rPr>
              <a:t>Gap: little evidence that standardised images + a ViT can screen performance and explain why</a:t>
            </a:r>
          </a:p>
          <a:p>
            <a:pPr>
              <a:spcAft>
                <a:spcPts val="600"/>
              </a:spcAft>
            </a:pPr>
            <a:r>
              <a:rPr sz="1500">
                <a:solidFill>
                  <a:srgbClr val="2F6FAE"/>
                </a:solidFill>
                <a:latin typeface="Calibri"/>
              </a:rPr>
              <a:t>▪  </a:t>
            </a:r>
            <a:r>
              <a:rPr sz="1500" b="0">
                <a:solidFill>
                  <a:srgbClr val="FFFFFF"/>
                </a:solidFill>
                <a:latin typeface="Calibri"/>
              </a:rPr>
              <a:t>Objective: build and test a reproducible, explainable image classifier for antenna performance</a:t>
            </a:r>
          </a:p>
          <a:p>
            <a:pPr>
              <a:spcAft>
                <a:spcPts val="600"/>
              </a:spcAft>
            </a:pPr>
            <a:r>
              <a:rPr sz="1500">
                <a:solidFill>
                  <a:srgbClr val="2F6FAE"/>
                </a:solidFill>
                <a:latin typeface="Calibri"/>
              </a:rPr>
              <a:t>▪  </a:t>
            </a:r>
            <a:r>
              <a:rPr sz="1500" b="0">
                <a:solidFill>
                  <a:srgbClr val="FFFFFF"/>
                </a:solidFill>
                <a:latin typeface="Calibri"/>
              </a:rPr>
              <a:t>Scope: no public HFSS DGS image set exists and HFSS was unavailable → proof of concept on open simulations</a:t>
            </a:r>
          </a:p>
        </p:txBody>
      </p:sp>
      <p:sp>
        <p:nvSpPr>
          <p:cNvPr id="10" name="Rounded Rectangle 9"/>
          <p:cNvSpPr/>
          <p:nvPr/>
        </p:nvSpPr>
        <p:spPr>
          <a:xfrm>
            <a:off x="7589520" y="1371600"/>
            <a:ext cx="4069080" cy="48006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818120" y="1508760"/>
            <a:ext cx="3657600" cy="365760"/>
          </a:xfrm>
          <a:prstGeom prst="rect">
            <a:avLst/>
          </a:prstGeom>
          <a:noFill/>
        </p:spPr>
        <p:txBody>
          <a:bodyPr wrap="square" anchor="t" lIns="45720" rIns="45720">
            <a:spAutoFit/>
          </a:bodyPr>
          <a:lstStyle/>
          <a:p>
            <a:pPr algn="l"/>
            <a:r>
              <a:rPr sz="1800" b="1">
                <a:solidFill>
                  <a:srgbClr val="0B2A4A"/>
                </a:solidFill>
                <a:latin typeface="Calibri"/>
              </a:rPr>
              <a:t>Pre-registered hypotheses</a:t>
            </a:r>
          </a:p>
        </p:txBody>
      </p:sp>
      <p:sp>
        <p:nvSpPr>
          <p:cNvPr id="12" name="TextBox 11"/>
          <p:cNvSpPr txBox="1"/>
          <p:nvPr/>
        </p:nvSpPr>
        <p:spPr>
          <a:xfrm>
            <a:off x="7818120" y="1965960"/>
            <a:ext cx="3657600" cy="237744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0B2A4A"/>
                </a:solidFill>
                <a:latin typeface="Calibri"/>
              </a:rPr>
              <a:t>H1  ViT beats the majority baseline</a:t>
            </a:r>
          </a:p>
          <a:p>
            <a:pPr>
              <a:spcAft>
                <a:spcPts val="600"/>
              </a:spcAft>
            </a:pPr>
            <a:r>
              <a:rPr sz="1500">
                <a:solidFill>
                  <a:srgbClr val="2F6FAE"/>
                </a:solidFill>
                <a:latin typeface="Calibri"/>
              </a:rPr>
              <a:t>▪  </a:t>
            </a:r>
            <a:r>
              <a:rPr sz="1500" b="0">
                <a:solidFill>
                  <a:srgbClr val="0B2A4A"/>
                </a:solidFill>
                <a:latin typeface="Calibri"/>
              </a:rPr>
              <a:t>H2  ViT ≥ compact CNN (3 seeds)</a:t>
            </a:r>
          </a:p>
          <a:p>
            <a:pPr>
              <a:spcAft>
                <a:spcPts val="600"/>
              </a:spcAft>
            </a:pPr>
            <a:r>
              <a:rPr sz="1500">
                <a:solidFill>
                  <a:srgbClr val="2F6FAE"/>
                </a:solidFill>
                <a:latin typeface="Calibri"/>
              </a:rPr>
              <a:t>▪  </a:t>
            </a:r>
            <a:r>
              <a:rPr sz="1500" b="0">
                <a:solidFill>
                  <a:srgbClr val="0B2A4A"/>
                </a:solidFill>
                <a:latin typeface="Calibri"/>
              </a:rPr>
              <a:t>H3  Fine-tuning beats a frozen probe</a:t>
            </a:r>
          </a:p>
          <a:p>
            <a:pPr>
              <a:spcAft>
                <a:spcPts val="600"/>
              </a:spcAft>
            </a:pPr>
            <a:r>
              <a:rPr sz="1500">
                <a:solidFill>
                  <a:srgbClr val="2F6FAE"/>
                </a:solidFill>
                <a:latin typeface="Calibri"/>
              </a:rPr>
              <a:t>▪  </a:t>
            </a:r>
            <a:r>
              <a:rPr sz="1500" b="0">
                <a:solidFill>
                  <a:srgbClr val="0B2A4A"/>
                </a:solidFill>
                <a:latin typeface="Calibri"/>
              </a:rPr>
              <a:t>H4  Attention concentrates on patch and feed</a:t>
            </a:r>
          </a:p>
          <a:p>
            <a:pPr>
              <a:spcAft>
                <a:spcPts val="600"/>
              </a:spcAft>
            </a:pPr>
            <a:r>
              <a:rPr sz="1500">
                <a:solidFill>
                  <a:srgbClr val="2F6FAE"/>
                </a:solidFill>
                <a:latin typeface="Calibri"/>
              </a:rPr>
              <a:t>▪  </a:t>
            </a:r>
            <a:r>
              <a:rPr sz="1500" b="0">
                <a:solidFill>
                  <a:srgbClr val="0B2A4A"/>
                </a:solidFill>
                <a:latin typeface="Calibri"/>
              </a:rPr>
              <a:t>H5  Scores drop on unseen shapes (OOD)</a:t>
            </a:r>
          </a:p>
        </p:txBody>
      </p:sp>
      <p:pic>
        <p:nvPicPr>
          <p:cNvPr id="13" name="Picture 12" descr="P1307.png"/>
          <p:cNvPicPr>
            <a:picLocks noChangeAspect="1"/>
          </p:cNvPicPr>
          <p:nvPr/>
        </p:nvPicPr>
        <p:blipFill>
          <a:blip r:embed="rId2"/>
          <a:stretch>
            <a:fillRect/>
          </a:stretch>
        </p:blipFill>
        <p:spPr>
          <a:xfrm>
            <a:off x="7818120" y="4343400"/>
            <a:ext cx="1691640" cy="1691640"/>
          </a:xfrm>
          <a:prstGeom prst="rect">
            <a:avLst/>
          </a:prstGeom>
        </p:spPr>
      </p:pic>
      <p:sp>
        <p:nvSpPr>
          <p:cNvPr id="14" name="TextBox 13"/>
          <p:cNvSpPr txBox="1"/>
          <p:nvPr/>
        </p:nvSpPr>
        <p:spPr>
          <a:xfrm>
            <a:off x="9601200" y="4434840"/>
            <a:ext cx="1920240" cy="1554480"/>
          </a:xfrm>
          <a:prstGeom prst="rect">
            <a:avLst/>
          </a:prstGeom>
          <a:noFill/>
        </p:spPr>
        <p:txBody>
          <a:bodyPr wrap="square" anchor="t" lIns="45720" rIns="45720">
            <a:spAutoFit/>
          </a:bodyPr>
          <a:lstStyle/>
          <a:p>
            <a:pPr algn="l"/>
            <a:r>
              <a:rPr sz="1300" b="1">
                <a:solidFill>
                  <a:srgbClr val="5F6B76"/>
                </a:solidFill>
                <a:latin typeface="Calibri"/>
              </a:rPr>
              <a:t>Real model input</a:t>
            </a:r>
          </a:p>
          <a:p>
            <a:pPr algn="l"/>
            <a:r>
              <a:rPr sz="1200" b="0">
                <a:solidFill>
                  <a:srgbClr val="5F6B76"/>
                </a:solidFill>
                <a:latin typeface="Calibri"/>
              </a:rPr>
              <a:t>Design P1307, class High. Top: true scale. Bottom: zoomed, so the feed dot is resolvable.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9144000" cy="320040"/>
          </a:xfrm>
          <a:prstGeom prst="rect">
            <a:avLst/>
          </a:prstGeom>
          <a:noFill/>
        </p:spPr>
        <p:txBody>
          <a:bodyPr wrap="square" anchor="t" lIns="45720" rIns="45720">
            <a:spAutoFit/>
          </a:bodyPr>
          <a:lstStyle/>
          <a:p>
            <a:pPr algn="l"/>
            <a:r>
              <a:rPr sz="1200" b="1">
                <a:solidFill>
                  <a:srgbClr val="2F6FAE"/>
                </a:solidFill>
                <a:latin typeface="Calibri"/>
              </a:rPr>
              <a:t>MODULE 1 · IMAGE-BASED VISION TRANSFORMER</a:t>
            </a:r>
          </a:p>
        </p:txBody>
      </p:sp>
      <p:sp>
        <p:nvSpPr>
          <p:cNvPr id="3" name="TextBox 2"/>
          <p:cNvSpPr txBox="1"/>
          <p:nvPr/>
        </p:nvSpPr>
        <p:spPr>
          <a:xfrm>
            <a:off x="548640" y="621792"/>
            <a:ext cx="11064240" cy="731520"/>
          </a:xfrm>
          <a:prstGeom prst="rect">
            <a:avLst/>
          </a:prstGeom>
          <a:noFill/>
        </p:spPr>
        <p:txBody>
          <a:bodyPr wrap="square" anchor="t" lIns="45720" rIns="45720">
            <a:spAutoFit/>
          </a:bodyPr>
          <a:lstStyle/>
          <a:p>
            <a:pPr algn="l"/>
            <a:r>
              <a:rPr sz="3200" b="1">
                <a:solidFill>
                  <a:srgbClr val="0B2A4A"/>
                </a:solidFill>
                <a:latin typeface="Calibri"/>
              </a:rPr>
              <a:t>Two verified public datasets, one standard image per design</a:t>
            </a:r>
          </a:p>
        </p:txBody>
      </p:sp>
      <p:sp>
        <p:nvSpPr>
          <p:cNvPr id="4" name="TextBox 3"/>
          <p:cNvSpPr txBox="1"/>
          <p:nvPr/>
        </p:nvSpPr>
        <p:spPr>
          <a:xfrm>
            <a:off x="548640" y="6446520"/>
            <a:ext cx="9601200" cy="274320"/>
          </a:xfrm>
          <a:prstGeom prst="rect">
            <a:avLst/>
          </a:prstGeom>
          <a:noFill/>
        </p:spPr>
        <p:txBody>
          <a:bodyPr wrap="square" anchor="t" lIns="45720" rIns="45720">
            <a:spAutoFit/>
          </a:bodyPr>
          <a:lstStyle/>
          <a:p>
            <a:pPr algn="l"/>
            <a:r>
              <a:rPr sz="1000" b="0">
                <a:solidFill>
                  <a:srgbClr val="5F6B76"/>
                </a:solidFill>
                <a:latin typeface="Calibri"/>
              </a:rPr>
              <a:t>Proof of concept on public simulation data (openEMS, RadPat-50K) · Ansys HFSS not run · results not HFSS-validated</a:t>
            </a:r>
          </a:p>
        </p:txBody>
      </p:sp>
      <p:sp>
        <p:nvSpPr>
          <p:cNvPr id="5" name="TextBox 4"/>
          <p:cNvSpPr txBox="1"/>
          <p:nvPr/>
        </p:nvSpPr>
        <p:spPr>
          <a:xfrm>
            <a:off x="10911535" y="6446520"/>
            <a:ext cx="731520" cy="274320"/>
          </a:xfrm>
          <a:prstGeom prst="rect">
            <a:avLst/>
          </a:prstGeom>
          <a:noFill/>
        </p:spPr>
        <p:txBody>
          <a:bodyPr wrap="square" anchor="t" lIns="45720" rIns="45720">
            <a:spAutoFit/>
          </a:bodyPr>
          <a:lstStyle/>
          <a:p>
            <a:pPr algn="r"/>
            <a:r>
              <a:rPr sz="1000" b="0">
                <a:solidFill>
                  <a:srgbClr val="5F6B76"/>
                </a:solidFill>
                <a:latin typeface="Calibri"/>
              </a:rPr>
              <a:t>2 / 5</a:t>
            </a:r>
          </a:p>
        </p:txBody>
      </p:sp>
      <p:sp>
        <p:nvSpPr>
          <p:cNvPr id="6" name="Rounded Rectangle 5"/>
          <p:cNvSpPr/>
          <p:nvPr/>
        </p:nvSpPr>
        <p:spPr>
          <a:xfrm>
            <a:off x="548640" y="1463040"/>
            <a:ext cx="260604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36192"/>
            <a:ext cx="2377440" cy="685800"/>
          </a:xfrm>
          <a:prstGeom prst="rect">
            <a:avLst/>
          </a:prstGeom>
          <a:noFill/>
        </p:spPr>
        <p:txBody>
          <a:bodyPr wrap="square" anchor="t" lIns="45720" rIns="45720">
            <a:spAutoFit/>
          </a:bodyPr>
          <a:lstStyle/>
          <a:p>
            <a:pPr algn="l"/>
            <a:r>
              <a:rPr sz="3600" b="1">
                <a:solidFill>
                  <a:srgbClr val="0B2A4A"/>
                </a:solidFill>
                <a:latin typeface="Calibri"/>
              </a:rPr>
              <a:t>2,051</a:t>
            </a:r>
          </a:p>
        </p:txBody>
      </p:sp>
      <p:sp>
        <p:nvSpPr>
          <p:cNvPr id="8" name="TextBox 7"/>
          <p:cNvSpPr txBox="1"/>
          <p:nvPr/>
        </p:nvSpPr>
        <p:spPr>
          <a:xfrm>
            <a:off x="731520" y="2194560"/>
            <a:ext cx="2377440" cy="548640"/>
          </a:xfrm>
          <a:prstGeom prst="rect">
            <a:avLst/>
          </a:prstGeom>
          <a:noFill/>
        </p:spPr>
        <p:txBody>
          <a:bodyPr wrap="square" anchor="t" lIns="45720" rIns="45720">
            <a:spAutoFit/>
          </a:bodyPr>
          <a:lstStyle/>
          <a:p>
            <a:pPr algn="l"/>
            <a:r>
              <a:rPr sz="1300" b="0">
                <a:solidFill>
                  <a:srgbClr val="5F6B76"/>
                </a:solidFill>
                <a:latin typeface="Calibri"/>
              </a:rPr>
              <a:t>openEMS patch designs
Hugging Face · MIT</a:t>
            </a:r>
          </a:p>
        </p:txBody>
      </p:sp>
      <p:sp>
        <p:nvSpPr>
          <p:cNvPr id="9" name="Rounded Rectangle 8"/>
          <p:cNvSpPr/>
          <p:nvPr/>
        </p:nvSpPr>
        <p:spPr>
          <a:xfrm>
            <a:off x="3383280" y="1463040"/>
            <a:ext cx="260604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66160" y="1536192"/>
            <a:ext cx="2377440" cy="685800"/>
          </a:xfrm>
          <a:prstGeom prst="rect">
            <a:avLst/>
          </a:prstGeom>
          <a:noFill/>
        </p:spPr>
        <p:txBody>
          <a:bodyPr wrap="square" anchor="t" lIns="45720" rIns="45720">
            <a:spAutoFit/>
          </a:bodyPr>
          <a:lstStyle/>
          <a:p>
            <a:pPr algn="l"/>
            <a:r>
              <a:rPr sz="3600" b="1">
                <a:solidFill>
                  <a:srgbClr val="0B2A4A"/>
                </a:solidFill>
                <a:latin typeface="Calibri"/>
              </a:rPr>
              <a:t>3,000</a:t>
            </a:r>
          </a:p>
        </p:txBody>
      </p:sp>
      <p:sp>
        <p:nvSpPr>
          <p:cNvPr id="11" name="TextBox 10"/>
          <p:cNvSpPr txBox="1"/>
          <p:nvPr/>
        </p:nvSpPr>
        <p:spPr>
          <a:xfrm>
            <a:off x="3566160" y="2194560"/>
            <a:ext cx="2377440" cy="548640"/>
          </a:xfrm>
          <a:prstGeom prst="rect">
            <a:avLst/>
          </a:prstGeom>
          <a:noFill/>
        </p:spPr>
        <p:txBody>
          <a:bodyPr wrap="square" anchor="t" lIns="45720" rIns="45720">
            <a:spAutoFit/>
          </a:bodyPr>
          <a:lstStyle/>
          <a:p>
            <a:pPr algn="l"/>
            <a:r>
              <a:rPr sz="1300" b="0">
                <a:solidFill>
                  <a:srgbClr val="5F6B76"/>
                </a:solidFill>
                <a:latin typeface="Calibri"/>
              </a:rPr>
              <a:t>RadPat-50K polar plots
Zenodo · CC BY 4.0</a:t>
            </a:r>
          </a:p>
        </p:txBody>
      </p:sp>
      <p:sp>
        <p:nvSpPr>
          <p:cNvPr id="12" name="Rounded Rectangle 11"/>
          <p:cNvSpPr/>
          <p:nvPr/>
        </p:nvSpPr>
        <p:spPr>
          <a:xfrm>
            <a:off x="6217920" y="1463040"/>
            <a:ext cx="260604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1536192"/>
            <a:ext cx="2377440" cy="685800"/>
          </a:xfrm>
          <a:prstGeom prst="rect">
            <a:avLst/>
          </a:prstGeom>
          <a:noFill/>
        </p:spPr>
        <p:txBody>
          <a:bodyPr wrap="square" anchor="t" lIns="45720" rIns="45720">
            <a:spAutoFit/>
          </a:bodyPr>
          <a:lstStyle/>
          <a:p>
            <a:pPr algn="l"/>
            <a:r>
              <a:rPr sz="3600" b="1">
                <a:solidFill>
                  <a:srgbClr val="0B2A4A"/>
                </a:solidFill>
                <a:latin typeface="Calibri"/>
              </a:rPr>
              <a:t>70 / 15 / 15</a:t>
            </a:r>
          </a:p>
        </p:txBody>
      </p:sp>
      <p:sp>
        <p:nvSpPr>
          <p:cNvPr id="14" name="TextBox 13"/>
          <p:cNvSpPr txBox="1"/>
          <p:nvPr/>
        </p:nvSpPr>
        <p:spPr>
          <a:xfrm>
            <a:off x="6400800" y="2194560"/>
            <a:ext cx="2377440" cy="548640"/>
          </a:xfrm>
          <a:prstGeom prst="rect">
            <a:avLst/>
          </a:prstGeom>
          <a:noFill/>
        </p:spPr>
        <p:txBody>
          <a:bodyPr wrap="square" anchor="t" lIns="45720" rIns="45720">
            <a:spAutoFit/>
          </a:bodyPr>
          <a:lstStyle/>
          <a:p>
            <a:pPr algn="l"/>
            <a:r>
              <a:rPr sz="1300" b="0">
                <a:solidFill>
                  <a:srgbClr val="5F6B76"/>
                </a:solidFill>
                <a:latin typeface="Calibri"/>
              </a:rPr>
              <a:t>1,220 · 262 · 262 designs
design-level split, seed 42</a:t>
            </a:r>
          </a:p>
        </p:txBody>
      </p:sp>
      <p:sp>
        <p:nvSpPr>
          <p:cNvPr id="15" name="Rounded Rectangle 14"/>
          <p:cNvSpPr/>
          <p:nvPr/>
        </p:nvSpPr>
        <p:spPr>
          <a:xfrm>
            <a:off x="9052560" y="1463040"/>
            <a:ext cx="2606040" cy="141732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35440" y="1536192"/>
            <a:ext cx="2377440" cy="685800"/>
          </a:xfrm>
          <a:prstGeom prst="rect">
            <a:avLst/>
          </a:prstGeom>
          <a:noFill/>
        </p:spPr>
        <p:txBody>
          <a:bodyPr wrap="square" anchor="t" lIns="45720" rIns="45720">
            <a:spAutoFit/>
          </a:bodyPr>
          <a:lstStyle/>
          <a:p>
            <a:pPr algn="l"/>
            <a:r>
              <a:rPr sz="3600" b="1">
                <a:solidFill>
                  <a:srgbClr val="0B2A4A"/>
                </a:solidFill>
                <a:latin typeface="Calibri"/>
              </a:rPr>
              <a:t>307</a:t>
            </a:r>
          </a:p>
        </p:txBody>
      </p:sp>
      <p:sp>
        <p:nvSpPr>
          <p:cNvPr id="17" name="TextBox 16"/>
          <p:cNvSpPr txBox="1"/>
          <p:nvPr/>
        </p:nvSpPr>
        <p:spPr>
          <a:xfrm>
            <a:off x="9235440" y="2194560"/>
            <a:ext cx="2377440" cy="548640"/>
          </a:xfrm>
          <a:prstGeom prst="rect">
            <a:avLst/>
          </a:prstGeom>
          <a:noFill/>
        </p:spPr>
        <p:txBody>
          <a:bodyPr wrap="square" anchor="t" lIns="45720" rIns="45720">
            <a:spAutoFit/>
          </a:bodyPr>
          <a:lstStyle/>
          <a:p>
            <a:pPr algn="l"/>
            <a:r>
              <a:rPr sz="1300" b="0">
                <a:solidFill>
                  <a:srgbClr val="5F6B76"/>
                </a:solidFill>
                <a:latin typeface="Calibri"/>
              </a:rPr>
              <a:t>OOD hold-out
widest patches, W/L &gt; 1.95</a:t>
            </a:r>
          </a:p>
        </p:txBody>
      </p:sp>
      <p:sp>
        <p:nvSpPr>
          <p:cNvPr id="18" name="TextBox 17"/>
          <p:cNvSpPr txBox="1"/>
          <p:nvPr/>
        </p:nvSpPr>
        <p:spPr>
          <a:xfrm>
            <a:off x="548640" y="3108960"/>
            <a:ext cx="5120640" cy="365760"/>
          </a:xfrm>
          <a:prstGeom prst="rect">
            <a:avLst/>
          </a:prstGeom>
          <a:noFill/>
        </p:spPr>
        <p:txBody>
          <a:bodyPr wrap="square" anchor="t" lIns="45720" rIns="45720">
            <a:spAutoFit/>
          </a:bodyPr>
          <a:lstStyle/>
          <a:p>
            <a:pPr algn="l"/>
            <a:r>
              <a:rPr sz="1700" b="1">
                <a:solidFill>
                  <a:srgbClr val="0B2A4A"/>
                </a:solidFill>
                <a:latin typeface="Calibri"/>
              </a:rPr>
              <a:t>Labels from simulated S11 (frozen before training)</a:t>
            </a:r>
          </a:p>
        </p:txBody>
      </p:sp>
      <p:sp>
        <p:nvSpPr>
          <p:cNvPr id="19" name="TextBox 18"/>
          <p:cNvSpPr txBox="1"/>
          <p:nvPr/>
        </p:nvSpPr>
        <p:spPr>
          <a:xfrm>
            <a:off x="548640" y="3520440"/>
            <a:ext cx="5212080" cy="2743200"/>
          </a:xfrm>
          <a:prstGeom prst="rect">
            <a:avLst/>
          </a:prstGeom>
          <a:noFill/>
        </p:spPr>
        <p:txBody>
          <a:bodyPr wrap="square">
            <a:spAutoFit/>
          </a:bodyPr>
          <a:lstStyle/>
          <a:p>
            <a:pPr>
              <a:spcAft>
                <a:spcPts val="600"/>
              </a:spcAft>
            </a:pPr>
            <a:r>
              <a:rPr sz="1400">
                <a:solidFill>
                  <a:srgbClr val="2F6FAE"/>
                </a:solidFill>
                <a:latin typeface="Calibri"/>
              </a:rPr>
              <a:t>▪  </a:t>
            </a:r>
            <a:r>
              <a:rPr sz="1400" b="1">
                <a:solidFill>
                  <a:srgbClr val="0B2A4A"/>
                </a:solidFill>
                <a:latin typeface="Calibri"/>
              </a:rPr>
              <a:t>Matching: </a:t>
            </a:r>
            <a:r>
              <a:rPr sz="1400" b="0">
                <a:solidFill>
                  <a:srgbClr val="0B2A4A"/>
                </a:solidFill>
                <a:latin typeface="Calibri"/>
              </a:rPr>
              <a:t>Poor &gt; −10 dB · Acceptable −20 to −10 dB · High ≤ −20 dB*</a:t>
            </a:r>
          </a:p>
          <a:p>
            <a:pPr>
              <a:spcAft>
                <a:spcPts val="600"/>
              </a:spcAft>
            </a:pPr>
            <a:r>
              <a:rPr sz="1400">
                <a:solidFill>
                  <a:srgbClr val="2F6FAE"/>
                </a:solidFill>
                <a:latin typeface="Calibri"/>
              </a:rPr>
              <a:t>▪  </a:t>
            </a:r>
            <a:r>
              <a:rPr sz="1400" b="1">
                <a:solidFill>
                  <a:srgbClr val="0B2A4A"/>
                </a:solidFill>
                <a:latin typeface="Calibri"/>
              </a:rPr>
              <a:t>Band: </a:t>
            </a:r>
            <a:r>
              <a:rPr sz="1400" b="0">
                <a:solidFill>
                  <a:srgbClr val="0B2A4A"/>
                </a:solidFill>
                <a:latin typeface="Calibri"/>
              </a:rPr>
              <a:t>first matched resonance &lt; 5 | 5–7.125 | ≥ 7.125 GHz (3GPP)</a:t>
            </a:r>
          </a:p>
          <a:p>
            <a:pPr>
              <a:spcAft>
                <a:spcPts val="600"/>
              </a:spcAft>
            </a:pPr>
            <a:r>
              <a:rPr sz="1400">
                <a:solidFill>
                  <a:srgbClr val="2F6FAE"/>
                </a:solidFill>
                <a:latin typeface="Calibri"/>
              </a:rPr>
              <a:t>▪  </a:t>
            </a:r>
            <a:r>
              <a:rPr sz="1400" b="1">
                <a:solidFill>
                  <a:srgbClr val="0B2A4A"/>
                </a:solidFill>
                <a:latin typeface="Calibri"/>
              </a:rPr>
              <a:t>Beamwidth (RadPat): </a:t>
            </a:r>
            <a:r>
              <a:rPr sz="1400" b="0">
                <a:solidFill>
                  <a:srgbClr val="0B2A4A"/>
                </a:solidFill>
                <a:latin typeface="Calibri"/>
              </a:rPr>
              <a:t>training-split HPBW terciles</a:t>
            </a:r>
          </a:p>
          <a:p>
            <a:pPr>
              <a:spcAft>
                <a:spcPts val="600"/>
              </a:spcAft>
            </a:pPr>
            <a:r>
              <a:rPr sz="1400">
                <a:solidFill>
                  <a:srgbClr val="2F6FAE"/>
                </a:solidFill>
                <a:latin typeface="Calibri"/>
              </a:rPr>
              <a:t>▪  </a:t>
            </a:r>
            <a:r>
              <a:rPr sz="1400" b="1">
                <a:solidFill>
                  <a:srgbClr val="0B2A4A"/>
                </a:solidFill>
                <a:latin typeface="Calibri"/>
              </a:rPr>
              <a:t>Leakage control: </a:t>
            </a:r>
            <a:r>
              <a:rPr sz="1400" b="0">
                <a:solidFill>
                  <a:srgbClr val="0B2A4A"/>
                </a:solidFill>
                <a:latin typeface="Calibri"/>
              </a:rPr>
              <a:t>no text or legends, MD5 de-duplication, one image per design</a:t>
            </a:r>
          </a:p>
          <a:p>
            <a:pPr>
              <a:spcAft>
                <a:spcPts val="600"/>
              </a:spcAft>
            </a:pPr>
            <a:r>
              <a:rPr sz="1400">
                <a:solidFill>
                  <a:srgbClr val="2F6FAE"/>
                </a:solidFill>
                <a:latin typeface="Calibri"/>
              </a:rPr>
              <a:t>▪  </a:t>
            </a:r>
            <a:r>
              <a:rPr sz="1400" b="1">
                <a:solidFill>
                  <a:srgbClr val="0B2A4A"/>
                </a:solidFill>
                <a:latin typeface="Calibri"/>
              </a:rPr>
              <a:t>Augmentation (train only): </a:t>
            </a:r>
            <a:r>
              <a:rPr sz="1400" b="0">
                <a:solidFill>
                  <a:srgbClr val="0B2A4A"/>
                </a:solidFill>
                <a:latin typeface="Calibri"/>
              </a:rPr>
              <a:t>mirror, ±3° rotation, 2% shift</a:t>
            </a:r>
          </a:p>
        </p:txBody>
      </p:sp>
      <p:sp>
        <p:nvSpPr>
          <p:cNvPr id="20" name="TextBox 19"/>
          <p:cNvSpPr txBox="1"/>
          <p:nvPr/>
        </p:nvSpPr>
        <p:spPr>
          <a:xfrm>
            <a:off x="548640" y="5943600"/>
            <a:ext cx="5120640" cy="365760"/>
          </a:xfrm>
          <a:prstGeom prst="rect">
            <a:avLst/>
          </a:prstGeom>
          <a:noFill/>
        </p:spPr>
        <p:txBody>
          <a:bodyPr wrap="square" anchor="t" lIns="45720" rIns="45720">
            <a:spAutoFit/>
          </a:bodyPr>
          <a:lstStyle/>
          <a:p>
            <a:pPr algn="l"/>
            <a:r>
              <a:rPr sz="1100" b="0">
                <a:solidFill>
                  <a:srgbClr val="5F6B76"/>
                </a:solidFill>
                <a:latin typeface="Calibri"/>
              </a:rPr>
              <a:t>*−20 dB is a project assumption that needs engineering confirmation</a:t>
            </a:r>
          </a:p>
        </p:txBody>
      </p:sp>
      <p:pic>
        <p:nvPicPr>
          <p:cNvPr id="21" name="Picture 20" descr="dataset_overview.png"/>
          <p:cNvPicPr>
            <a:picLocks noChangeAspect="1"/>
          </p:cNvPicPr>
          <p:nvPr/>
        </p:nvPicPr>
        <p:blipFill>
          <a:blip r:embed="rId2"/>
          <a:stretch>
            <a:fillRect/>
          </a:stretch>
        </p:blipFill>
        <p:spPr>
          <a:xfrm>
            <a:off x="5897880" y="3154680"/>
            <a:ext cx="5760720" cy="1780586"/>
          </a:xfrm>
          <a:prstGeom prst="rect">
            <a:avLst/>
          </a:prstGeom>
        </p:spPr>
      </p:pic>
      <p:pic>
        <p:nvPicPr>
          <p:cNvPr id="22" name="Picture 21" descr="radpat_samples.png"/>
          <p:cNvPicPr>
            <a:picLocks noChangeAspect="1"/>
          </p:cNvPicPr>
          <p:nvPr/>
        </p:nvPicPr>
        <p:blipFill>
          <a:blip r:embed="rId3"/>
          <a:stretch>
            <a:fillRect/>
          </a:stretch>
        </p:blipFill>
        <p:spPr>
          <a:xfrm>
            <a:off x="6309360" y="5074920"/>
            <a:ext cx="4937760" cy="946404"/>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9144000" cy="320040"/>
          </a:xfrm>
          <a:prstGeom prst="rect">
            <a:avLst/>
          </a:prstGeom>
          <a:noFill/>
        </p:spPr>
        <p:txBody>
          <a:bodyPr wrap="square" anchor="t" lIns="45720" rIns="45720">
            <a:spAutoFit/>
          </a:bodyPr>
          <a:lstStyle/>
          <a:p>
            <a:pPr algn="l"/>
            <a:r>
              <a:rPr sz="1200" b="1">
                <a:solidFill>
                  <a:srgbClr val="2F6FAE"/>
                </a:solidFill>
                <a:latin typeface="Calibri"/>
              </a:rPr>
              <a:t>MODULE 1 · IMAGE-BASED VISION TRANSFORMER</a:t>
            </a:r>
          </a:p>
        </p:txBody>
      </p:sp>
      <p:sp>
        <p:nvSpPr>
          <p:cNvPr id="3" name="TextBox 2"/>
          <p:cNvSpPr txBox="1"/>
          <p:nvPr/>
        </p:nvSpPr>
        <p:spPr>
          <a:xfrm>
            <a:off x="548640" y="621792"/>
            <a:ext cx="11064240" cy="731520"/>
          </a:xfrm>
          <a:prstGeom prst="rect">
            <a:avLst/>
          </a:prstGeom>
          <a:noFill/>
        </p:spPr>
        <p:txBody>
          <a:bodyPr wrap="square" anchor="t" lIns="45720" rIns="45720">
            <a:spAutoFit/>
          </a:bodyPr>
          <a:lstStyle/>
          <a:p>
            <a:pPr algn="l"/>
            <a:r>
              <a:rPr sz="3200" b="1">
                <a:solidFill>
                  <a:srgbClr val="0B2A4A"/>
                </a:solidFill>
                <a:latin typeface="Calibri"/>
              </a:rPr>
              <a:t>ViT-S/16 pipeline with three baselines and explainability</a:t>
            </a:r>
          </a:p>
        </p:txBody>
      </p:sp>
      <p:sp>
        <p:nvSpPr>
          <p:cNvPr id="4" name="TextBox 3"/>
          <p:cNvSpPr txBox="1"/>
          <p:nvPr/>
        </p:nvSpPr>
        <p:spPr>
          <a:xfrm>
            <a:off x="548640" y="6446520"/>
            <a:ext cx="9601200" cy="274320"/>
          </a:xfrm>
          <a:prstGeom prst="rect">
            <a:avLst/>
          </a:prstGeom>
          <a:noFill/>
        </p:spPr>
        <p:txBody>
          <a:bodyPr wrap="square" anchor="t" lIns="45720" rIns="45720">
            <a:spAutoFit/>
          </a:bodyPr>
          <a:lstStyle/>
          <a:p>
            <a:pPr algn="l"/>
            <a:r>
              <a:rPr sz="1000" b="0">
                <a:solidFill>
                  <a:srgbClr val="5F6B76"/>
                </a:solidFill>
                <a:latin typeface="Calibri"/>
              </a:rPr>
              <a:t>Proof of concept on public simulation data (openEMS, RadPat-50K) · Ansys HFSS not run · results not HFSS-validated</a:t>
            </a:r>
          </a:p>
        </p:txBody>
      </p:sp>
      <p:sp>
        <p:nvSpPr>
          <p:cNvPr id="5" name="TextBox 4"/>
          <p:cNvSpPr txBox="1"/>
          <p:nvPr/>
        </p:nvSpPr>
        <p:spPr>
          <a:xfrm>
            <a:off x="10911535" y="6446520"/>
            <a:ext cx="731520" cy="274320"/>
          </a:xfrm>
          <a:prstGeom prst="rect">
            <a:avLst/>
          </a:prstGeom>
          <a:noFill/>
        </p:spPr>
        <p:txBody>
          <a:bodyPr wrap="square" anchor="t" lIns="45720" rIns="45720">
            <a:spAutoFit/>
          </a:bodyPr>
          <a:lstStyle/>
          <a:p>
            <a:pPr algn="r"/>
            <a:r>
              <a:rPr sz="1000" b="0">
                <a:solidFill>
                  <a:srgbClr val="5F6B76"/>
                </a:solidFill>
                <a:latin typeface="Calibri"/>
              </a:rPr>
              <a:t>3 / 5</a:t>
            </a:r>
          </a:p>
        </p:txBody>
      </p:sp>
      <p:pic>
        <p:nvPicPr>
          <p:cNvPr id="6" name="Picture 5" descr="module1_architecture.png"/>
          <p:cNvPicPr>
            <a:picLocks noChangeAspect="1"/>
          </p:cNvPicPr>
          <p:nvPr/>
        </p:nvPicPr>
        <p:blipFill>
          <a:blip r:embed="rId2"/>
          <a:stretch>
            <a:fillRect/>
          </a:stretch>
        </p:blipFill>
        <p:spPr>
          <a:xfrm>
            <a:off x="548640" y="1371600"/>
            <a:ext cx="8412480" cy="4012106"/>
          </a:xfrm>
          <a:prstGeom prst="rect">
            <a:avLst/>
          </a:prstGeom>
        </p:spPr>
      </p:pic>
      <p:sp>
        <p:nvSpPr>
          <p:cNvPr id="7" name="Rounded Rectangle 6"/>
          <p:cNvSpPr/>
          <p:nvPr/>
        </p:nvSpPr>
        <p:spPr>
          <a:xfrm>
            <a:off x="9189720" y="1371600"/>
            <a:ext cx="2468880" cy="402336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0" y="1463040"/>
            <a:ext cx="2240280" cy="365760"/>
          </a:xfrm>
          <a:prstGeom prst="rect">
            <a:avLst/>
          </a:prstGeom>
          <a:noFill/>
        </p:spPr>
        <p:txBody>
          <a:bodyPr wrap="square" anchor="t" lIns="45720" rIns="45720">
            <a:spAutoFit/>
          </a:bodyPr>
          <a:lstStyle/>
          <a:p>
            <a:pPr algn="l"/>
            <a:r>
              <a:rPr sz="1600" b="1">
                <a:solidFill>
                  <a:srgbClr val="0B2A4A"/>
                </a:solidFill>
                <a:latin typeface="Calibri"/>
              </a:rPr>
              <a:t>Training recipe</a:t>
            </a:r>
          </a:p>
        </p:txBody>
      </p:sp>
      <p:sp>
        <p:nvSpPr>
          <p:cNvPr id="9" name="TextBox 8"/>
          <p:cNvSpPr txBox="1"/>
          <p:nvPr/>
        </p:nvSpPr>
        <p:spPr>
          <a:xfrm>
            <a:off x="9326880" y="1874519"/>
            <a:ext cx="2286000" cy="3474720"/>
          </a:xfrm>
          <a:prstGeom prst="rect">
            <a:avLst/>
          </a:prstGeom>
          <a:noFill/>
        </p:spPr>
        <p:txBody>
          <a:bodyPr wrap="square">
            <a:spAutoFit/>
          </a:bodyPr>
          <a:lstStyle/>
          <a:p>
            <a:pPr>
              <a:spcAft>
                <a:spcPts val="400"/>
              </a:spcAft>
            </a:pPr>
            <a:r>
              <a:rPr sz="1400">
                <a:solidFill>
                  <a:srgbClr val="2F6FAE"/>
                </a:solidFill>
                <a:latin typeface="Calibri"/>
              </a:rPr>
              <a:t>▪  </a:t>
            </a:r>
            <a:r>
              <a:rPr sz="1400" b="0">
                <a:solidFill>
                  <a:srgbClr val="0B2A4A"/>
                </a:solidFill>
                <a:latin typeface="Calibri"/>
              </a:rPr>
              <a:t>ImageNet-21k pretrained, 196 tokens + CLS</a:t>
            </a:r>
          </a:p>
          <a:p>
            <a:pPr>
              <a:spcAft>
                <a:spcPts val="400"/>
              </a:spcAft>
            </a:pPr>
            <a:r>
              <a:rPr sz="1400">
                <a:solidFill>
                  <a:srgbClr val="2F6FAE"/>
                </a:solidFill>
                <a:latin typeface="Calibri"/>
              </a:rPr>
              <a:t>▪  </a:t>
            </a:r>
            <a:r>
              <a:rPr sz="1400" b="0">
                <a:solidFill>
                  <a:srgbClr val="0B2A4A"/>
                </a:solidFill>
                <a:latin typeface="Calibri"/>
              </a:rPr>
              <a:t>Stage A: head only, 2 epochs</a:t>
            </a:r>
          </a:p>
          <a:p>
            <a:pPr>
              <a:spcAft>
                <a:spcPts val="400"/>
              </a:spcAft>
            </a:pPr>
            <a:r>
              <a:rPr sz="1400">
                <a:solidFill>
                  <a:srgbClr val="2F6FAE"/>
                </a:solidFill>
                <a:latin typeface="Calibri"/>
              </a:rPr>
              <a:t>▪  </a:t>
            </a:r>
            <a:r>
              <a:rPr sz="1400" b="0">
                <a:solidFill>
                  <a:srgbClr val="0B2A4A"/>
                </a:solidFill>
                <a:latin typeface="Calibri"/>
              </a:rPr>
              <a:t>Stage B: last 4 of 12 blocks, lr 3e-5</a:t>
            </a:r>
          </a:p>
          <a:p>
            <a:pPr>
              <a:spcAft>
                <a:spcPts val="400"/>
              </a:spcAft>
            </a:pPr>
            <a:r>
              <a:rPr sz="1400">
                <a:solidFill>
                  <a:srgbClr val="2F6FAE"/>
                </a:solidFill>
                <a:latin typeface="Calibri"/>
              </a:rPr>
              <a:t>▪  </a:t>
            </a:r>
            <a:r>
              <a:rPr sz="1400" b="0">
                <a:solidFill>
                  <a:srgbClr val="0B2A4A"/>
                </a:solidFill>
                <a:latin typeface="Calibri"/>
              </a:rPr>
              <a:t>AdamW, batch 16, early stop on val macro-F1</a:t>
            </a:r>
          </a:p>
          <a:p>
            <a:pPr>
              <a:spcAft>
                <a:spcPts val="400"/>
              </a:spcAft>
            </a:pPr>
            <a:r>
              <a:rPr sz="1400">
                <a:solidFill>
                  <a:srgbClr val="2F6FAE"/>
                </a:solidFill>
                <a:latin typeface="Calibri"/>
              </a:rPr>
              <a:t>▪  </a:t>
            </a:r>
            <a:r>
              <a:rPr sz="1400" b="0">
                <a:solidFill>
                  <a:srgbClr val="0B2A4A"/>
                </a:solidFill>
                <a:latin typeface="Calibri"/>
              </a:rPr>
              <a:t>Temperature-scaled probabilities</a:t>
            </a:r>
          </a:p>
          <a:p>
            <a:pPr>
              <a:spcAft>
                <a:spcPts val="400"/>
              </a:spcAft>
            </a:pPr>
            <a:r>
              <a:rPr sz="1400">
                <a:solidFill>
                  <a:srgbClr val="2F6FAE"/>
                </a:solidFill>
                <a:latin typeface="Calibri"/>
              </a:rPr>
              <a:t>▪  </a:t>
            </a:r>
            <a:r>
              <a:rPr sz="1400" b="0">
                <a:solidFill>
                  <a:srgbClr val="0B2A4A"/>
                </a:solidFill>
                <a:latin typeface="Calibri"/>
              </a:rPr>
              <a:t>CPU only (i7-10610U)</a:t>
            </a:r>
          </a:p>
        </p:txBody>
      </p:sp>
      <p:sp>
        <p:nvSpPr>
          <p:cNvPr id="10" name="TextBox 9"/>
          <p:cNvSpPr txBox="1"/>
          <p:nvPr/>
        </p:nvSpPr>
        <p:spPr>
          <a:xfrm>
            <a:off x="548640" y="5623560"/>
            <a:ext cx="11064240" cy="640080"/>
          </a:xfrm>
          <a:prstGeom prst="rect">
            <a:avLst/>
          </a:prstGeom>
          <a:noFill/>
        </p:spPr>
        <p:txBody>
          <a:bodyPr wrap="square" anchor="t" lIns="45720" rIns="45720">
            <a:spAutoFit/>
          </a:bodyPr>
          <a:lstStyle/>
          <a:p>
            <a:pPr algn="l"/>
            <a:r>
              <a:rPr sz="1400" b="1">
                <a:solidFill>
                  <a:srgbClr val="0B2A4A"/>
                </a:solidFill>
                <a:latin typeface="Calibri"/>
              </a:rPr>
              <a:t>Outputs: </a:t>
            </a:r>
            <a:r>
              <a:rPr sz="1400" b="0">
                <a:solidFill>
                  <a:srgbClr val="0B2A4A"/>
                </a:solidFill>
                <a:latin typeface="Calibri"/>
              </a:rPr>
              <a:t>matching / band / beamwidth class with calibrated confidence, attention-rollout maps, and a 384-d embedding per design that Module 2 uses for multimodal fusion. Dashed boxes need HFSS.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320040"/>
            <a:ext cx="9144000" cy="320040"/>
          </a:xfrm>
          <a:prstGeom prst="rect">
            <a:avLst/>
          </a:prstGeom>
          <a:noFill/>
        </p:spPr>
        <p:txBody>
          <a:bodyPr wrap="square" anchor="t" lIns="45720" rIns="45720">
            <a:spAutoFit/>
          </a:bodyPr>
          <a:lstStyle/>
          <a:p>
            <a:pPr algn="l"/>
            <a:r>
              <a:rPr sz="1200" b="1">
                <a:solidFill>
                  <a:srgbClr val="2F6FAE"/>
                </a:solidFill>
                <a:latin typeface="Calibri"/>
              </a:rPr>
              <a:t>MODULE 1 · IMAGE-BASED VISION TRANSFORMER</a:t>
            </a:r>
          </a:p>
        </p:txBody>
      </p:sp>
      <p:sp>
        <p:nvSpPr>
          <p:cNvPr id="3" name="TextBox 2"/>
          <p:cNvSpPr txBox="1"/>
          <p:nvPr/>
        </p:nvSpPr>
        <p:spPr>
          <a:xfrm>
            <a:off x="548640" y="621792"/>
            <a:ext cx="11064240" cy="731520"/>
          </a:xfrm>
          <a:prstGeom prst="rect">
            <a:avLst/>
          </a:prstGeom>
          <a:noFill/>
        </p:spPr>
        <p:txBody>
          <a:bodyPr wrap="square" anchor="t" lIns="45720" rIns="45720">
            <a:spAutoFit/>
          </a:bodyPr>
          <a:lstStyle/>
          <a:p>
            <a:pPr algn="l"/>
            <a:r>
              <a:rPr sz="3200" b="1">
                <a:solidFill>
                  <a:srgbClr val="0B2A4A"/>
                </a:solidFill>
                <a:latin typeface="Calibri"/>
              </a:rPr>
              <a:t>All models beat chance; augmentation held the ViT back</a:t>
            </a:r>
          </a:p>
        </p:txBody>
      </p:sp>
      <p:sp>
        <p:nvSpPr>
          <p:cNvPr id="4" name="TextBox 3"/>
          <p:cNvSpPr txBox="1"/>
          <p:nvPr/>
        </p:nvSpPr>
        <p:spPr>
          <a:xfrm>
            <a:off x="548640" y="6446520"/>
            <a:ext cx="9601200" cy="274320"/>
          </a:xfrm>
          <a:prstGeom prst="rect">
            <a:avLst/>
          </a:prstGeom>
          <a:noFill/>
        </p:spPr>
        <p:txBody>
          <a:bodyPr wrap="square" anchor="t" lIns="45720" rIns="45720">
            <a:spAutoFit/>
          </a:bodyPr>
          <a:lstStyle/>
          <a:p>
            <a:pPr algn="l"/>
            <a:r>
              <a:rPr sz="1000" b="0">
                <a:solidFill>
                  <a:srgbClr val="5F6B76"/>
                </a:solidFill>
                <a:latin typeface="Calibri"/>
              </a:rPr>
              <a:t>Proof of concept on public simulation data (openEMS, RadPat-50K) · Ansys HFSS not run · results not HFSS-validated</a:t>
            </a:r>
          </a:p>
        </p:txBody>
      </p:sp>
      <p:sp>
        <p:nvSpPr>
          <p:cNvPr id="5" name="TextBox 4"/>
          <p:cNvSpPr txBox="1"/>
          <p:nvPr/>
        </p:nvSpPr>
        <p:spPr>
          <a:xfrm>
            <a:off x="10911535" y="6446520"/>
            <a:ext cx="731520" cy="274320"/>
          </a:xfrm>
          <a:prstGeom prst="rect">
            <a:avLst/>
          </a:prstGeom>
          <a:noFill/>
        </p:spPr>
        <p:txBody>
          <a:bodyPr wrap="square" anchor="t" lIns="45720" rIns="45720">
            <a:spAutoFit/>
          </a:bodyPr>
          <a:lstStyle/>
          <a:p>
            <a:pPr algn="r"/>
            <a:r>
              <a:rPr sz="1000" b="0">
                <a:solidFill>
                  <a:srgbClr val="5F6B76"/>
                </a:solidFill>
                <a:latin typeface="Calibri"/>
              </a:rPr>
              <a:t>4 / 5</a:t>
            </a:r>
          </a:p>
        </p:txBody>
      </p:sp>
      <p:graphicFrame>
        <p:nvGraphicFramePr>
          <p:cNvPr id="6" name="Table 5"/>
          <p:cNvGraphicFramePr>
            <a:graphicFrameLocks noGrp="1"/>
          </p:cNvGraphicFramePr>
          <p:nvPr/>
        </p:nvGraphicFramePr>
        <p:xfrm>
          <a:off x="548640" y="1417320"/>
          <a:ext cx="5669280" cy="2084832"/>
        </p:xfrm>
        <a:graphic>
          <a:graphicData uri="http://schemas.openxmlformats.org/drawingml/2006/table">
            <a:tbl>
              <a:tblPr firstRow="1" bandRow="1">
                <a:tableStyleId>{5C22544A-7EE6-4342-B048-85BDC9FD1C3A}</a:tableStyleId>
              </a:tblPr>
              <a:tblGrid>
                <a:gridCol w="3200400"/>
                <a:gridCol w="1463040"/>
                <a:gridCol w="1005840"/>
              </a:tblGrid>
              <a:tr h="347472">
                <a:tc>
                  <a:txBody>
                    <a:bodyPr/>
                    <a:lstStyle/>
                    <a:p>
                      <a:pPr algn="l"/>
                      <a:r>
                        <a:rPr sz="1400" b="1">
                          <a:solidFill>
                            <a:srgbClr val="FFFFFF"/>
                          </a:solidFill>
                          <a:latin typeface="Calibri"/>
                        </a:rPr>
                        <a:t>Matching class, locked test (n = 262)</a:t>
                      </a:r>
                    </a:p>
                  </a:txBody>
                  <a:tcPr marT="25000" marB="25000" anchor="ctr">
                    <a:solidFill>
                      <a:srgbClr val="0B2A4A"/>
                    </a:solidFill>
                  </a:tcPr>
                </a:tc>
                <a:tc>
                  <a:txBody>
                    <a:bodyPr/>
                    <a:lstStyle/>
                    <a:p>
                      <a:pPr algn="ctr"/>
                      <a:r>
                        <a:rPr sz="1400" b="1">
                          <a:solidFill>
                            <a:srgbClr val="FFFFFF"/>
                          </a:solidFill>
                          <a:latin typeface="Calibri"/>
                        </a:rPr>
                        <a:t>Macro-F1</a:t>
                      </a:r>
                    </a:p>
                  </a:txBody>
                  <a:tcPr marT="25000" marB="25000" anchor="ctr">
                    <a:solidFill>
                      <a:srgbClr val="0B2A4A"/>
                    </a:solidFill>
                  </a:tcPr>
                </a:tc>
                <a:tc>
                  <a:txBody>
                    <a:bodyPr/>
                    <a:lstStyle/>
                    <a:p>
                      <a:pPr algn="ctr"/>
                      <a:r>
                        <a:rPr sz="1400" b="1">
                          <a:solidFill>
                            <a:srgbClr val="FFFFFF"/>
                          </a:solidFill>
                          <a:latin typeface="Calibri"/>
                        </a:rPr>
                        <a:t>Bal. acc.</a:t>
                      </a:r>
                    </a:p>
                  </a:txBody>
                  <a:tcPr marT="25000" marB="25000" anchor="ctr">
                    <a:solidFill>
                      <a:srgbClr val="0B2A4A"/>
                    </a:solidFill>
                  </a:tcPr>
                </a:tc>
              </a:tr>
              <a:tr h="347472">
                <a:tc>
                  <a:txBody>
                    <a:bodyPr/>
                    <a:lstStyle/>
                    <a:p>
                      <a:pPr algn="l"/>
                      <a:r>
                        <a:rPr sz="1400" b="0">
                          <a:solidFill>
                            <a:srgbClr val="0B2A4A"/>
                          </a:solidFill>
                          <a:latin typeface="Calibri"/>
                        </a:rPr>
                        <a:t>Majority baseline</a:t>
                      </a:r>
                    </a:p>
                  </a:txBody>
                  <a:tcPr marT="25000" marB="25000" anchor="ctr">
                    <a:solidFill>
                      <a:srgbClr val="EAF2FA"/>
                    </a:solidFill>
                  </a:tcPr>
                </a:tc>
                <a:tc>
                  <a:txBody>
                    <a:bodyPr/>
                    <a:lstStyle/>
                    <a:p>
                      <a:pPr algn="ctr"/>
                      <a:r>
                        <a:rPr sz="1400" b="0">
                          <a:solidFill>
                            <a:srgbClr val="0B2A4A"/>
                          </a:solidFill>
                          <a:latin typeface="Calibri"/>
                        </a:rPr>
                        <a:t>0.269</a:t>
                      </a:r>
                    </a:p>
                  </a:txBody>
                  <a:tcPr marT="25000" marB="25000" anchor="ctr">
                    <a:solidFill>
                      <a:srgbClr val="EAF2FA"/>
                    </a:solidFill>
                  </a:tcPr>
                </a:tc>
                <a:tc>
                  <a:txBody>
                    <a:bodyPr/>
                    <a:lstStyle/>
                    <a:p>
                      <a:pPr algn="ctr"/>
                      <a:r>
                        <a:rPr sz="1400" b="0">
                          <a:solidFill>
                            <a:srgbClr val="0B2A4A"/>
                          </a:solidFill>
                          <a:latin typeface="Calibri"/>
                        </a:rPr>
                        <a:t>0.333</a:t>
                      </a:r>
                    </a:p>
                  </a:txBody>
                  <a:tcPr marT="25000" marB="25000" anchor="ctr">
                    <a:solidFill>
                      <a:srgbClr val="EAF2FA"/>
                    </a:solidFill>
                  </a:tcPr>
                </a:tc>
              </a:tr>
              <a:tr h="347472">
                <a:tc>
                  <a:txBody>
                    <a:bodyPr/>
                    <a:lstStyle/>
                    <a:p>
                      <a:pPr algn="l"/>
                      <a:r>
                        <a:rPr sz="1400" b="0">
                          <a:solidFill>
                            <a:srgbClr val="0B2A4A"/>
                          </a:solidFill>
                          <a:latin typeface="Calibri"/>
                        </a:rPr>
                        <a:t>Compact CNN (3 seeds)</a:t>
                      </a:r>
                    </a:p>
                  </a:txBody>
                  <a:tcPr marT="25000" marB="25000" anchor="ctr">
                    <a:solidFill>
                      <a:srgbClr val="FFFFFF"/>
                    </a:solidFill>
                  </a:tcPr>
                </a:tc>
                <a:tc>
                  <a:txBody>
                    <a:bodyPr/>
                    <a:lstStyle/>
                    <a:p>
                      <a:pPr algn="ctr"/>
                      <a:r>
                        <a:rPr sz="1400" b="0">
                          <a:solidFill>
                            <a:srgbClr val="0B2A4A"/>
                          </a:solidFill>
                          <a:latin typeface="Calibri"/>
                        </a:rPr>
                        <a:t>0.643 ± 0.022</a:t>
                      </a:r>
                    </a:p>
                  </a:txBody>
                  <a:tcPr marT="25000" marB="25000" anchor="ctr">
                    <a:solidFill>
                      <a:srgbClr val="FFFFFF"/>
                    </a:solidFill>
                  </a:tcPr>
                </a:tc>
                <a:tc>
                  <a:txBody>
                    <a:bodyPr/>
                    <a:lstStyle/>
                    <a:p>
                      <a:pPr algn="ctr"/>
                      <a:r>
                        <a:rPr sz="1400" b="0">
                          <a:solidFill>
                            <a:srgbClr val="0B2A4A"/>
                          </a:solidFill>
                          <a:latin typeface="Calibri"/>
                        </a:rPr>
                        <a:t>0.669</a:t>
                      </a:r>
                    </a:p>
                  </a:txBody>
                  <a:tcPr marT="25000" marB="25000" anchor="ctr">
                    <a:solidFill>
                      <a:srgbClr val="FFFFFF"/>
                    </a:solidFill>
                  </a:tcPr>
                </a:tc>
              </a:tr>
              <a:tr h="347472">
                <a:tc>
                  <a:txBody>
                    <a:bodyPr/>
                    <a:lstStyle/>
                    <a:p>
                      <a:pPr algn="l"/>
                      <a:r>
                        <a:rPr sz="1400" b="0">
                          <a:solidFill>
                            <a:srgbClr val="0B2A4A"/>
                          </a:solidFill>
                          <a:latin typeface="Calibri"/>
                        </a:rPr>
                        <a:t>ViT-S/16 frozen linear probe</a:t>
                      </a:r>
                    </a:p>
                  </a:txBody>
                  <a:tcPr marT="25000" marB="25000" anchor="ctr">
                    <a:solidFill>
                      <a:srgbClr val="EAF2FA"/>
                    </a:solidFill>
                  </a:tcPr>
                </a:tc>
                <a:tc>
                  <a:txBody>
                    <a:bodyPr/>
                    <a:lstStyle/>
                    <a:p>
                      <a:pPr algn="ctr"/>
                      <a:r>
                        <a:rPr sz="1400" b="0">
                          <a:solidFill>
                            <a:srgbClr val="0B2A4A"/>
                          </a:solidFill>
                          <a:latin typeface="Calibri"/>
                        </a:rPr>
                        <a:t>0.709</a:t>
                      </a:r>
                    </a:p>
                  </a:txBody>
                  <a:tcPr marT="25000" marB="25000" anchor="ctr">
                    <a:solidFill>
                      <a:srgbClr val="EAF2FA"/>
                    </a:solidFill>
                  </a:tcPr>
                </a:tc>
                <a:tc>
                  <a:txBody>
                    <a:bodyPr/>
                    <a:lstStyle/>
                    <a:p>
                      <a:pPr algn="ctr"/>
                      <a:r>
                        <a:rPr sz="1400" b="0">
                          <a:solidFill>
                            <a:srgbClr val="0B2A4A"/>
                          </a:solidFill>
                          <a:latin typeface="Calibri"/>
                        </a:rPr>
                        <a:t>0.729</a:t>
                      </a:r>
                    </a:p>
                  </a:txBody>
                  <a:tcPr marT="25000" marB="25000" anchor="ctr">
                    <a:solidFill>
                      <a:srgbClr val="EAF2FA"/>
                    </a:solidFill>
                  </a:tcPr>
                </a:tc>
              </a:tr>
              <a:tr h="347472">
                <a:tc>
                  <a:txBody>
                    <a:bodyPr/>
                    <a:lstStyle/>
                    <a:p>
                      <a:pPr algn="l"/>
                      <a:r>
                        <a:rPr sz="1400" b="1">
                          <a:solidFill>
                            <a:srgbClr val="0B2A4A"/>
                          </a:solidFill>
                          <a:latin typeface="Calibri"/>
                        </a:rPr>
                        <a:t>ViT-S/16 fine-tuned (3 seeds)</a:t>
                      </a:r>
                    </a:p>
                  </a:txBody>
                  <a:tcPr marT="25000" marB="25000" anchor="ctr">
                    <a:solidFill>
                      <a:srgbClr val="FFFFFF"/>
                    </a:solidFill>
                  </a:tcPr>
                </a:tc>
                <a:tc>
                  <a:txBody>
                    <a:bodyPr/>
                    <a:lstStyle/>
                    <a:p>
                      <a:pPr algn="ctr"/>
                      <a:r>
                        <a:rPr sz="1400" b="1">
                          <a:solidFill>
                            <a:srgbClr val="0B2A4A"/>
                          </a:solidFill>
                          <a:latin typeface="Calibri"/>
                        </a:rPr>
                        <a:t>0.582 ± 0.008</a:t>
                      </a:r>
                    </a:p>
                  </a:txBody>
                  <a:tcPr marT="25000" marB="25000" anchor="ctr">
                    <a:solidFill>
                      <a:srgbClr val="FFFFFF"/>
                    </a:solidFill>
                  </a:tcPr>
                </a:tc>
                <a:tc>
                  <a:txBody>
                    <a:bodyPr/>
                    <a:lstStyle/>
                    <a:p>
                      <a:pPr algn="ctr"/>
                      <a:r>
                        <a:rPr sz="1400" b="1">
                          <a:solidFill>
                            <a:srgbClr val="0B2A4A"/>
                          </a:solidFill>
                          <a:latin typeface="Calibri"/>
                        </a:rPr>
                        <a:t>0.649</a:t>
                      </a:r>
                    </a:p>
                  </a:txBody>
                  <a:tcPr marT="25000" marB="25000" anchor="ctr">
                    <a:solidFill>
                      <a:srgbClr val="FFFFFF"/>
                    </a:solidFill>
                  </a:tcPr>
                </a:tc>
              </a:tr>
              <a:tr h="347472">
                <a:tc>
                  <a:txBody>
                    <a:bodyPr/>
                    <a:lstStyle/>
                    <a:p>
                      <a:pPr algn="l"/>
                      <a:r>
                        <a:rPr sz="1400" b="0">
                          <a:solidFill>
                            <a:srgbClr val="0B2A4A"/>
                          </a:solidFill>
                          <a:latin typeface="Calibri"/>
                        </a:rPr>
                        <a:t>ViT fine-tuned, no augmentation*</a:t>
                      </a:r>
                    </a:p>
                  </a:txBody>
                  <a:tcPr marT="25000" marB="25000" anchor="ctr">
                    <a:solidFill>
                      <a:srgbClr val="EAF2FA"/>
                    </a:solidFill>
                  </a:tcPr>
                </a:tc>
                <a:tc>
                  <a:txBody>
                    <a:bodyPr/>
                    <a:lstStyle/>
                    <a:p>
                      <a:pPr algn="ctr"/>
                      <a:r>
                        <a:rPr sz="1400" b="0">
                          <a:solidFill>
                            <a:srgbClr val="0B2A4A"/>
                          </a:solidFill>
                          <a:latin typeface="Calibri"/>
                        </a:rPr>
                        <a:t>0.725</a:t>
                      </a:r>
                    </a:p>
                  </a:txBody>
                  <a:tcPr marT="25000" marB="25000" anchor="ctr">
                    <a:solidFill>
                      <a:srgbClr val="EAF2FA"/>
                    </a:solidFill>
                  </a:tcPr>
                </a:tc>
                <a:tc>
                  <a:txBody>
                    <a:bodyPr/>
                    <a:lstStyle/>
                    <a:p>
                      <a:pPr algn="ctr"/>
                      <a:r>
                        <a:rPr sz="1400" b="0">
                          <a:solidFill>
                            <a:srgbClr val="0B2A4A"/>
                          </a:solidFill>
                          <a:latin typeface="Calibri"/>
                        </a:rPr>
                        <a:t>0.737</a:t>
                      </a:r>
                    </a:p>
                  </a:txBody>
                  <a:tcPr marT="25000" marB="25000" anchor="ctr">
                    <a:solidFill>
                      <a:srgbClr val="EAF2FA"/>
                    </a:solidFill>
                  </a:tcPr>
                </a:tc>
              </a:tr>
            </a:tbl>
          </a:graphicData>
        </a:graphic>
      </p:graphicFrame>
      <p:sp>
        <p:nvSpPr>
          <p:cNvPr id="7" name="Rounded Rectangle 6"/>
          <p:cNvSpPr/>
          <p:nvPr/>
        </p:nvSpPr>
        <p:spPr>
          <a:xfrm>
            <a:off x="548640" y="3703320"/>
            <a:ext cx="5669280" cy="2240280"/>
          </a:xfrm>
          <a:prstGeom prst="roundRect">
            <a:avLst>
              <a:gd name="adj" fmla="val 6000"/>
            </a:avLst>
          </a:prstGeom>
          <a:solidFill>
            <a:srgbClr val="EAF2FA"/>
          </a:solidFill>
          <a:ln w="12700">
            <a:solidFill>
              <a:srgbClr val="C9DB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794760"/>
            <a:ext cx="5394960" cy="2377440"/>
          </a:xfrm>
          <a:prstGeom prst="rect">
            <a:avLst/>
          </a:prstGeom>
          <a:noFill/>
        </p:spPr>
        <p:txBody>
          <a:bodyPr wrap="square">
            <a:spAutoFit/>
          </a:bodyPr>
          <a:lstStyle/>
          <a:p>
            <a:pPr>
              <a:spcAft>
                <a:spcPts val="400"/>
              </a:spcAft>
            </a:pPr>
            <a:r>
              <a:rPr sz="1400">
                <a:solidFill>
                  <a:srgbClr val="2F6FAE"/>
                </a:solidFill>
                <a:latin typeface="Calibri"/>
              </a:rPr>
              <a:t>▪  </a:t>
            </a:r>
            <a:r>
              <a:rPr sz="1400" b="1">
                <a:solidFill>
                  <a:srgbClr val="0B2A4A"/>
                </a:solidFill>
                <a:latin typeface="Calibri"/>
              </a:rPr>
              <a:t>H1 supported; H2, H3 not: </a:t>
            </a:r>
            <a:r>
              <a:rPr sz="1400" b="0">
                <a:solidFill>
                  <a:srgbClr val="0B2A4A"/>
                </a:solidFill>
                <a:latin typeface="Calibri"/>
              </a:rPr>
              <a:t>CNN beat the ViT (McNemar p = 0.0009)</a:t>
            </a:r>
          </a:p>
          <a:p>
            <a:pPr>
              <a:spcAft>
                <a:spcPts val="400"/>
              </a:spcAft>
            </a:pPr>
            <a:r>
              <a:rPr sz="1400">
                <a:solidFill>
                  <a:srgbClr val="2F6FAE"/>
                </a:solidFill>
                <a:latin typeface="Calibri"/>
              </a:rPr>
              <a:t>▪  </a:t>
            </a:r>
            <a:r>
              <a:rPr sz="1400" b="1">
                <a:solidFill>
                  <a:srgbClr val="0B2A4A"/>
                </a:solidFill>
                <a:latin typeface="Calibri"/>
              </a:rPr>
              <a:t>Why: </a:t>
            </a:r>
            <a:r>
              <a:rPr sz="1400" b="0">
                <a:solidFill>
                  <a:srgbClr val="0B2A4A"/>
                </a:solidFill>
                <a:latin typeface="Calibri"/>
              </a:rPr>
              <a:t>±3° / 2% shifts blur the 1–2 px feed offset; without them 0.58 → 0.73</a:t>
            </a:r>
          </a:p>
          <a:p>
            <a:pPr>
              <a:spcAft>
                <a:spcPts val="400"/>
              </a:spcAft>
            </a:pPr>
            <a:r>
              <a:rPr sz="1400">
                <a:solidFill>
                  <a:srgbClr val="2F6FAE"/>
                </a:solidFill>
                <a:latin typeface="Calibri"/>
              </a:rPr>
              <a:t>▪  </a:t>
            </a:r>
            <a:r>
              <a:rPr sz="1400" b="1">
                <a:solidFill>
                  <a:srgbClr val="0B2A4A"/>
                </a:solidFill>
                <a:latin typeface="Calibri"/>
              </a:rPr>
              <a:t>H4: </a:t>
            </a:r>
            <a:r>
              <a:rPr sz="1400" b="0">
                <a:solidFill>
                  <a:srgbClr val="0B2A4A"/>
                </a:solidFill>
                <a:latin typeface="Calibri"/>
              </a:rPr>
              <a:t>feed gets ×1.41 its area share, patch ×1.03</a:t>
            </a:r>
          </a:p>
          <a:p>
            <a:pPr>
              <a:spcAft>
                <a:spcPts val="400"/>
              </a:spcAft>
            </a:pPr>
            <a:r>
              <a:rPr sz="1400">
                <a:solidFill>
                  <a:srgbClr val="2F6FAE"/>
                </a:solidFill>
                <a:latin typeface="Calibri"/>
              </a:rPr>
              <a:t>▪  </a:t>
            </a:r>
            <a:r>
              <a:rPr sz="1400" b="1">
                <a:solidFill>
                  <a:srgbClr val="0B2A4A"/>
                </a:solidFill>
                <a:latin typeface="Calibri"/>
              </a:rPr>
              <a:t>H5 not supported: </a:t>
            </a:r>
            <a:r>
              <a:rPr sz="1400" b="0">
                <a:solidFill>
                  <a:srgbClr val="0B2A4A"/>
                </a:solidFill>
                <a:latin typeface="Calibri"/>
              </a:rPr>
              <a:t>OOD 0.68, confounded by class balance</a:t>
            </a:r>
          </a:p>
          <a:p>
            <a:pPr>
              <a:spcAft>
                <a:spcPts val="400"/>
              </a:spcAft>
            </a:pPr>
            <a:r>
              <a:rPr sz="1400">
                <a:solidFill>
                  <a:srgbClr val="2F6FAE"/>
                </a:solidFill>
                <a:latin typeface="Calibri"/>
              </a:rPr>
              <a:t>▪  </a:t>
            </a:r>
            <a:r>
              <a:rPr sz="1400" b="1">
                <a:solidFill>
                  <a:srgbClr val="0B2A4A"/>
                </a:solidFill>
                <a:latin typeface="Calibri"/>
              </a:rPr>
              <a:t>Other tasks (ViT): </a:t>
            </a:r>
            <a:r>
              <a:rPr sz="1400" b="0">
                <a:solidFill>
                  <a:srgbClr val="0B2A4A"/>
                </a:solidFill>
                <a:latin typeface="Calibri"/>
              </a:rPr>
              <a:t>band 0.69 (probe 0.81), beamwidth 0.88</a:t>
            </a:r>
          </a:p>
        </p:txBody>
      </p:sp>
      <p:pic>
        <p:nvPicPr>
          <p:cNvPr id="9" name="Picture 8" descr="model_comparison.png"/>
          <p:cNvPicPr>
            <a:picLocks noChangeAspect="1"/>
          </p:cNvPicPr>
          <p:nvPr/>
        </p:nvPicPr>
        <p:blipFill>
          <a:blip r:embed="rId2"/>
          <a:stretch>
            <a:fillRect/>
          </a:stretch>
        </p:blipFill>
        <p:spPr>
          <a:xfrm>
            <a:off x="6446520" y="1371600"/>
            <a:ext cx="5212080" cy="2084832"/>
          </a:xfrm>
          <a:prstGeom prst="rect">
            <a:avLst/>
          </a:prstGeom>
        </p:spPr>
      </p:pic>
      <p:pic>
        <p:nvPicPr>
          <p:cNvPr id="10" name="Picture 9" descr="attention_rollout_examples.png"/>
          <p:cNvPicPr>
            <a:picLocks noChangeAspect="1"/>
          </p:cNvPicPr>
          <p:nvPr/>
        </p:nvPicPr>
        <p:blipFill>
          <a:blip r:embed="rId3"/>
          <a:stretch>
            <a:fillRect/>
          </a:stretch>
        </p:blipFill>
        <p:spPr>
          <a:xfrm>
            <a:off x="6446520" y="3657600"/>
            <a:ext cx="5212080" cy="1671265"/>
          </a:xfrm>
          <a:prstGeom prst="rect">
            <a:avLst/>
          </a:prstGeom>
        </p:spPr>
      </p:pic>
      <p:sp>
        <p:nvSpPr>
          <p:cNvPr id="11" name="TextBox 10"/>
          <p:cNvSpPr txBox="1"/>
          <p:nvPr/>
        </p:nvSpPr>
        <p:spPr>
          <a:xfrm>
            <a:off x="6446520" y="5989320"/>
            <a:ext cx="5212080" cy="274320"/>
          </a:xfrm>
          <a:prstGeom prst="rect">
            <a:avLst/>
          </a:prstGeom>
          <a:noFill/>
        </p:spPr>
        <p:txBody>
          <a:bodyPr wrap="square" anchor="t" lIns="45720" rIns="45720">
            <a:spAutoFit/>
          </a:bodyPr>
          <a:lstStyle/>
          <a:p>
            <a:pPr algn="l"/>
            <a:r>
              <a:rPr sz="1100" b="0">
                <a:solidFill>
                  <a:srgbClr val="5F6B76"/>
                </a:solidFill>
                <a:latin typeface="Calibri"/>
              </a:rPr>
              <a:t>*exploratory, one seed · attention maps are model attribution, not EM causation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2A4A"/>
        </a:solidFill>
        <a:effectLst/>
      </p:bgPr>
    </p:bg>
    <p:spTree>
      <p:nvGrpSpPr>
        <p:cNvPr id="1" name=""/>
        <p:cNvGrpSpPr/>
        <p:nvPr/>
      </p:nvGrpSpPr>
      <p:grpSpPr/>
      <p:sp>
        <p:nvSpPr>
          <p:cNvPr id="2" name="TextBox 1"/>
          <p:cNvSpPr txBox="1"/>
          <p:nvPr/>
        </p:nvSpPr>
        <p:spPr>
          <a:xfrm>
            <a:off x="548640" y="320040"/>
            <a:ext cx="9144000" cy="320040"/>
          </a:xfrm>
          <a:prstGeom prst="rect">
            <a:avLst/>
          </a:prstGeom>
          <a:noFill/>
        </p:spPr>
        <p:txBody>
          <a:bodyPr wrap="square" anchor="t" lIns="45720" rIns="45720">
            <a:spAutoFit/>
          </a:bodyPr>
          <a:lstStyle/>
          <a:p>
            <a:pPr algn="l"/>
            <a:r>
              <a:rPr sz="1200" b="1">
                <a:solidFill>
                  <a:srgbClr val="CFE2F3"/>
                </a:solidFill>
                <a:latin typeface="Calibri"/>
              </a:rPr>
              <a:t>MODULE 1 · IMAGE-BASED VISION TRANSFORMER</a:t>
            </a:r>
          </a:p>
        </p:txBody>
      </p:sp>
      <p:sp>
        <p:nvSpPr>
          <p:cNvPr id="3" name="TextBox 2"/>
          <p:cNvSpPr txBox="1"/>
          <p:nvPr/>
        </p:nvSpPr>
        <p:spPr>
          <a:xfrm>
            <a:off x="548640" y="621792"/>
            <a:ext cx="11064240" cy="731520"/>
          </a:xfrm>
          <a:prstGeom prst="rect">
            <a:avLst/>
          </a:prstGeom>
          <a:noFill/>
        </p:spPr>
        <p:txBody>
          <a:bodyPr wrap="square" anchor="t" lIns="45720" rIns="45720">
            <a:spAutoFit/>
          </a:bodyPr>
          <a:lstStyle/>
          <a:p>
            <a:pPr algn="l"/>
            <a:r>
              <a:rPr sz="3200" b="1">
                <a:solidFill>
                  <a:srgbClr val="FFFFFF"/>
                </a:solidFill>
                <a:latin typeface="Calibri"/>
              </a:rPr>
              <a:t>A working, reproducible image module, ready for HFSS data</a:t>
            </a:r>
          </a:p>
        </p:txBody>
      </p:sp>
      <p:sp>
        <p:nvSpPr>
          <p:cNvPr id="4" name="TextBox 3"/>
          <p:cNvSpPr txBox="1"/>
          <p:nvPr/>
        </p:nvSpPr>
        <p:spPr>
          <a:xfrm>
            <a:off x="548640" y="6446520"/>
            <a:ext cx="9601200" cy="274320"/>
          </a:xfrm>
          <a:prstGeom prst="rect">
            <a:avLst/>
          </a:prstGeom>
          <a:noFill/>
        </p:spPr>
        <p:txBody>
          <a:bodyPr wrap="square" anchor="t" lIns="45720" rIns="45720">
            <a:spAutoFit/>
          </a:bodyPr>
          <a:lstStyle/>
          <a:p>
            <a:pPr algn="l"/>
            <a:r>
              <a:rPr sz="1000" b="0">
                <a:solidFill>
                  <a:srgbClr val="CFE2F3"/>
                </a:solidFill>
                <a:latin typeface="Calibri"/>
              </a:rPr>
              <a:t>Proof of concept on public simulation data (openEMS, RadPat-50K) · Ansys HFSS not run · results not HFSS-validated</a:t>
            </a:r>
          </a:p>
        </p:txBody>
      </p:sp>
      <p:sp>
        <p:nvSpPr>
          <p:cNvPr id="5" name="TextBox 4"/>
          <p:cNvSpPr txBox="1"/>
          <p:nvPr/>
        </p:nvSpPr>
        <p:spPr>
          <a:xfrm>
            <a:off x="10911535" y="6446520"/>
            <a:ext cx="731520" cy="274320"/>
          </a:xfrm>
          <a:prstGeom prst="rect">
            <a:avLst/>
          </a:prstGeom>
          <a:noFill/>
        </p:spPr>
        <p:txBody>
          <a:bodyPr wrap="square" anchor="t" lIns="45720" rIns="45720">
            <a:spAutoFit/>
          </a:bodyPr>
          <a:lstStyle/>
          <a:p>
            <a:pPr algn="r"/>
            <a:r>
              <a:rPr sz="1000" b="0">
                <a:solidFill>
                  <a:srgbClr val="CFE2F3"/>
                </a:solidFill>
                <a:latin typeface="Calibri"/>
              </a:rPr>
              <a:t>5 / 5</a:t>
            </a:r>
          </a:p>
        </p:txBody>
      </p:sp>
      <p:sp>
        <p:nvSpPr>
          <p:cNvPr id="6" name="Rounded Rectangle 5"/>
          <p:cNvSpPr/>
          <p:nvPr/>
        </p:nvSpPr>
        <p:spPr>
          <a:xfrm>
            <a:off x="548640" y="1463040"/>
            <a:ext cx="3520440" cy="315468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72768"/>
            <a:ext cx="3200400" cy="365760"/>
          </a:xfrm>
          <a:prstGeom prst="rect">
            <a:avLst/>
          </a:prstGeom>
          <a:noFill/>
        </p:spPr>
        <p:txBody>
          <a:bodyPr wrap="square" anchor="t" lIns="45720" rIns="45720">
            <a:spAutoFit/>
          </a:bodyPr>
          <a:lstStyle/>
          <a:p>
            <a:pPr algn="l"/>
            <a:r>
              <a:rPr sz="1800" b="1">
                <a:solidFill>
                  <a:srgbClr val="FFFFFF"/>
                </a:solidFill>
                <a:latin typeface="Calibri"/>
              </a:rPr>
              <a:t>Contribution</a:t>
            </a:r>
          </a:p>
        </p:txBody>
      </p:sp>
      <p:sp>
        <p:nvSpPr>
          <p:cNvPr id="8" name="TextBox 7"/>
          <p:cNvSpPr txBox="1"/>
          <p:nvPr/>
        </p:nvSpPr>
        <p:spPr>
          <a:xfrm>
            <a:off x="731520" y="2011680"/>
            <a:ext cx="3200400" cy="283464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End-to-end ViT pipeline executed on CPU</a:t>
            </a:r>
          </a:p>
          <a:p>
            <a:pPr>
              <a:spcAft>
                <a:spcPts val="600"/>
              </a:spcAft>
            </a:pPr>
            <a:r>
              <a:rPr sz="1500">
                <a:solidFill>
                  <a:srgbClr val="2F6FAE"/>
                </a:solidFill>
                <a:latin typeface="Calibri"/>
              </a:rPr>
              <a:t>▪  </a:t>
            </a:r>
            <a:r>
              <a:rPr sz="1500" b="0">
                <a:solidFill>
                  <a:srgbClr val="FFFFFF"/>
                </a:solidFill>
                <a:latin typeface="Calibri"/>
              </a:rPr>
              <a:t>Geometry images carry a learnable signal for matching and band class</a:t>
            </a:r>
          </a:p>
          <a:p>
            <a:pPr>
              <a:spcAft>
                <a:spcPts val="600"/>
              </a:spcAft>
            </a:pPr>
            <a:r>
              <a:rPr sz="1500">
                <a:solidFill>
                  <a:srgbClr val="2F6FAE"/>
                </a:solidFill>
                <a:latin typeface="Calibri"/>
              </a:rPr>
              <a:t>▪  </a:t>
            </a:r>
            <a:r>
              <a:rPr sz="1500" b="0">
                <a:solidFill>
                  <a:srgbClr val="FFFFFF"/>
                </a:solidFill>
                <a:latin typeface="Calibri"/>
              </a:rPr>
              <a:t>Attribution measured against known patch and feed regions</a:t>
            </a:r>
          </a:p>
          <a:p>
            <a:pPr>
              <a:spcAft>
                <a:spcPts val="600"/>
              </a:spcAft>
            </a:pPr>
            <a:r>
              <a:rPr sz="1500">
                <a:solidFill>
                  <a:srgbClr val="2F6FAE"/>
                </a:solidFill>
                <a:latin typeface="Calibri"/>
              </a:rPr>
              <a:t>▪  </a:t>
            </a:r>
            <a:r>
              <a:rPr sz="1500" b="0">
                <a:solidFill>
                  <a:srgbClr val="FFFFFF"/>
                </a:solidFill>
                <a:latin typeface="Calibri"/>
              </a:rPr>
              <a:t>Lesson: augmentations must preserve fine physical detail</a:t>
            </a:r>
          </a:p>
        </p:txBody>
      </p:sp>
      <p:sp>
        <p:nvSpPr>
          <p:cNvPr id="9" name="Rounded Rectangle 8"/>
          <p:cNvSpPr/>
          <p:nvPr/>
        </p:nvSpPr>
        <p:spPr>
          <a:xfrm>
            <a:off x="4297679" y="1463040"/>
            <a:ext cx="3520440" cy="315468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59" y="1572768"/>
            <a:ext cx="3200400" cy="365760"/>
          </a:xfrm>
          <a:prstGeom prst="rect">
            <a:avLst/>
          </a:prstGeom>
          <a:noFill/>
        </p:spPr>
        <p:txBody>
          <a:bodyPr wrap="square" anchor="t" lIns="45720" rIns="45720">
            <a:spAutoFit/>
          </a:bodyPr>
          <a:lstStyle/>
          <a:p>
            <a:pPr algn="l"/>
            <a:r>
              <a:rPr sz="1800" b="1">
                <a:solidFill>
                  <a:srgbClr val="FFFFFF"/>
                </a:solidFill>
                <a:latin typeface="Calibri"/>
              </a:rPr>
              <a:t>Limitations</a:t>
            </a:r>
          </a:p>
        </p:txBody>
      </p:sp>
      <p:sp>
        <p:nvSpPr>
          <p:cNvPr id="11" name="TextBox 10"/>
          <p:cNvSpPr txBox="1"/>
          <p:nvPr/>
        </p:nvSpPr>
        <p:spPr>
          <a:xfrm>
            <a:off x="4480559" y="2011680"/>
            <a:ext cx="3200400" cy="283464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Plain rectangular patches; no slots or DGS</a:t>
            </a:r>
          </a:p>
          <a:p>
            <a:pPr>
              <a:spcAft>
                <a:spcPts val="600"/>
              </a:spcAft>
            </a:pPr>
            <a:r>
              <a:rPr sz="1500">
                <a:solidFill>
                  <a:srgbClr val="2F6FAE"/>
                </a:solidFill>
                <a:latin typeface="Calibri"/>
              </a:rPr>
              <a:t>▪  </a:t>
            </a:r>
            <a:r>
              <a:rPr sz="1500" b="0">
                <a:solidFill>
                  <a:srgbClr val="FFFFFF"/>
                </a:solidFill>
                <a:latin typeface="Calibri"/>
              </a:rPr>
              <a:t>Simulation only (openEMS, analytical patterns)</a:t>
            </a:r>
          </a:p>
          <a:p>
            <a:pPr>
              <a:spcAft>
                <a:spcPts val="600"/>
              </a:spcAft>
            </a:pPr>
            <a:r>
              <a:rPr sz="1500">
                <a:solidFill>
                  <a:srgbClr val="2F6FAE"/>
                </a:solidFill>
                <a:latin typeface="Calibri"/>
              </a:rPr>
              <a:t>▪  </a:t>
            </a:r>
            <a:r>
              <a:rPr sz="1500" b="0">
                <a:solidFill>
                  <a:srgbClr val="FFFFFF"/>
                </a:solidFill>
                <a:latin typeface="Calibri"/>
              </a:rPr>
              <a:t>−20 dB boundary assumed; CPU-limited tuning</a:t>
            </a:r>
          </a:p>
          <a:p>
            <a:pPr>
              <a:spcAft>
                <a:spcPts val="600"/>
              </a:spcAft>
            </a:pPr>
            <a:r>
              <a:rPr sz="1500">
                <a:solidFill>
                  <a:srgbClr val="2F6FAE"/>
                </a:solidFill>
                <a:latin typeface="Calibri"/>
              </a:rPr>
              <a:t>▪  </a:t>
            </a:r>
            <a:r>
              <a:rPr sz="1500" b="0">
                <a:solidFill>
                  <a:srgbClr val="FFFFFF"/>
                </a:solidFill>
                <a:latin typeface="Calibri"/>
              </a:rPr>
              <a:t>Attention ≠ causation; OOD test confounded</a:t>
            </a:r>
          </a:p>
        </p:txBody>
      </p:sp>
      <p:sp>
        <p:nvSpPr>
          <p:cNvPr id="12" name="Rounded Rectangle 11"/>
          <p:cNvSpPr/>
          <p:nvPr/>
        </p:nvSpPr>
        <p:spPr>
          <a:xfrm>
            <a:off x="8046719" y="1463040"/>
            <a:ext cx="3520440" cy="3154680"/>
          </a:xfrm>
          <a:prstGeom prst="roundRect">
            <a:avLst>
              <a:gd name="adj" fmla="val 6000"/>
            </a:avLst>
          </a:prstGeom>
          <a:solidFill>
            <a:srgbClr val="143A6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29599" y="1572768"/>
            <a:ext cx="3200400" cy="365760"/>
          </a:xfrm>
          <a:prstGeom prst="rect">
            <a:avLst/>
          </a:prstGeom>
          <a:noFill/>
        </p:spPr>
        <p:txBody>
          <a:bodyPr wrap="square" anchor="t" lIns="45720" rIns="45720">
            <a:spAutoFit/>
          </a:bodyPr>
          <a:lstStyle/>
          <a:p>
            <a:pPr algn="l"/>
            <a:r>
              <a:rPr sz="1800" b="1">
                <a:solidFill>
                  <a:srgbClr val="FFFFFF"/>
                </a:solidFill>
                <a:latin typeface="Calibri"/>
              </a:rPr>
              <a:t>Next: HFSS validation</a:t>
            </a:r>
          </a:p>
        </p:txBody>
      </p:sp>
      <p:sp>
        <p:nvSpPr>
          <p:cNvPr id="14" name="TextBox 13"/>
          <p:cNvSpPr txBox="1"/>
          <p:nvPr/>
        </p:nvSpPr>
        <p:spPr>
          <a:xfrm>
            <a:off x="8229599" y="2011680"/>
            <a:ext cx="3200400" cy="2834640"/>
          </a:xfrm>
          <a:prstGeom prst="rect">
            <a:avLst/>
          </a:prstGeom>
          <a:noFill/>
        </p:spPr>
        <p:txBody>
          <a:bodyPr wrap="square">
            <a:spAutoFit/>
          </a:bodyPr>
          <a:lstStyle/>
          <a:p>
            <a:pPr>
              <a:spcAft>
                <a:spcPts val="600"/>
              </a:spcAft>
            </a:pPr>
            <a:r>
              <a:rPr sz="1500">
                <a:solidFill>
                  <a:srgbClr val="2F6FAE"/>
                </a:solidFill>
                <a:latin typeface="Calibri"/>
              </a:rPr>
              <a:t>▪  </a:t>
            </a:r>
            <a:r>
              <a:rPr sz="1500" b="0">
                <a:solidFill>
                  <a:srgbClr val="FFFFFF"/>
                </a:solidFill>
                <a:latin typeface="Calibri"/>
              </a:rPr>
              <a:t>≥ 1,000 hybrid-slotted DGS designs via PyAEDT</a:t>
            </a:r>
          </a:p>
          <a:p>
            <a:pPr>
              <a:spcAft>
                <a:spcPts val="600"/>
              </a:spcAft>
            </a:pPr>
            <a:r>
              <a:rPr sz="1500">
                <a:solidFill>
                  <a:srgbClr val="2F6FAE"/>
                </a:solidFill>
                <a:latin typeface="Calibri"/>
              </a:rPr>
              <a:t>▪  </a:t>
            </a:r>
            <a:r>
              <a:rPr sz="1500" b="0">
                <a:solidFill>
                  <a:srgbClr val="FFFFFF"/>
                </a:solidFill>
                <a:latin typeface="Calibri"/>
              </a:rPr>
              <a:t>Geometry, current and E-field images at fixed scale</a:t>
            </a:r>
          </a:p>
          <a:p>
            <a:pPr>
              <a:spcAft>
                <a:spcPts val="600"/>
              </a:spcAft>
            </a:pPr>
            <a:r>
              <a:rPr sz="1500">
                <a:solidFill>
                  <a:srgbClr val="2F6FAE"/>
                </a:solidFill>
                <a:latin typeface="Calibri"/>
              </a:rPr>
              <a:t>▪  </a:t>
            </a:r>
            <a:r>
              <a:rPr sz="1500" b="0">
                <a:solidFill>
                  <a:srgbClr val="FFFFFF"/>
                </a:solidFill>
                <a:latin typeface="Calibri"/>
              </a:rPr>
              <a:t>Retrain unchanged; hold out a slot topology</a:t>
            </a:r>
          </a:p>
          <a:p>
            <a:pPr>
              <a:spcAft>
                <a:spcPts val="600"/>
              </a:spcAft>
            </a:pPr>
            <a:r>
              <a:rPr sz="1500">
                <a:solidFill>
                  <a:srgbClr val="2F6FAE"/>
                </a:solidFill>
                <a:latin typeface="Calibri"/>
              </a:rPr>
              <a:t>▪  </a:t>
            </a:r>
            <a:r>
              <a:rPr sz="1500" b="0">
                <a:solidFill>
                  <a:srgbClr val="FFFFFF"/>
                </a:solidFill>
                <a:latin typeface="Calibri"/>
              </a:rPr>
              <a:t>Verify screened designs in full-wave</a:t>
            </a:r>
          </a:p>
        </p:txBody>
      </p:sp>
      <p:sp>
        <p:nvSpPr>
          <p:cNvPr id="15" name="Rounded Rectangle 14"/>
          <p:cNvSpPr/>
          <p:nvPr/>
        </p:nvSpPr>
        <p:spPr>
          <a:xfrm>
            <a:off x="548640" y="4937760"/>
            <a:ext cx="11109960" cy="8686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77240" y="5029200"/>
            <a:ext cx="10698480" cy="914400"/>
          </a:xfrm>
          <a:prstGeom prst="rect">
            <a:avLst/>
          </a:prstGeom>
          <a:noFill/>
        </p:spPr>
        <p:txBody>
          <a:bodyPr wrap="square" anchor="t" lIns="45720" rIns="45720">
            <a:spAutoFit/>
          </a:bodyPr>
          <a:lstStyle/>
          <a:p>
            <a:pPr algn="l"/>
            <a:r>
              <a:rPr sz="1400" b="1">
                <a:solidFill>
                  <a:srgbClr val="0B2A4A"/>
                </a:solidFill>
                <a:latin typeface="Calibri"/>
              </a:rPr>
              <a:t>Deliverables: </a:t>
            </a:r>
            <a:r>
              <a:rPr sz="1400" b="0">
                <a:solidFill>
                  <a:srgbClr val="0B2A4A"/>
                </a:solidFill>
                <a:latin typeface="Calibri"/>
              </a:rPr>
              <a:t>code, configs, split manifests, 18 passing tests, data and model cards, Word/PDF/LaTeX report, this deck, poster</a:t>
            </a:r>
          </a:p>
          <a:p>
            <a:pPr algn="l"/>
            <a:r>
              <a:rPr sz="1400" b="1">
                <a:solidFill>
                  <a:srgbClr val="0B2A4A"/>
                </a:solidFill>
                <a:latin typeface="Calibri"/>
              </a:rPr>
              <a:t>GitHub: </a:t>
            </a:r>
            <a:r>
              <a:rPr sz="1400" b="0">
                <a:solidFill>
                  <a:srgbClr val="2F6FAE"/>
                </a:solidFill>
                <a:latin typeface="Calibri"/>
              </a:rPr>
              <a:t>https://github.com/rathiabeth-sudo/901---module-1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